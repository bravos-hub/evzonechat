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CF97F-E34D-5BE8-DFB8-F36501412D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B23E0-27B2-9695-EE33-452288A9FF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0606F-BDF6-B1C7-2A95-3DEA2A9CD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EBDC8-0873-4A8F-B900-A0C3FE5767B9}" type="datetimeFigureOut">
              <a:rPr lang="en-UG" smtClean="0"/>
              <a:t>10/11/2025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F8932-E80E-0FE4-D1F2-4CE852902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DEE90-ADE3-39C8-A056-ADF72A247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366F9-CF1E-47F6-9D8A-DE0CA5903F2D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855161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97AD9-63BE-64C3-AF49-32818C261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88456-2FB6-6AF0-AC85-724F8CF18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AB19B-FB20-C155-525A-DCB527CBB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EBDC8-0873-4A8F-B900-A0C3FE5767B9}" type="datetimeFigureOut">
              <a:rPr lang="en-UG" smtClean="0"/>
              <a:t>10/11/2025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5426D-D8DD-2686-0465-9B030F086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0E13E-B671-42F3-FC54-25CCB382E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366F9-CF1E-47F6-9D8A-DE0CA5903F2D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890906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28199-C776-BEF1-B52B-528070889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1682C-16D4-B8A1-330F-B853FD8CCE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0CEAB-A064-08ED-9850-F51F1FB49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EBDC8-0873-4A8F-B900-A0C3FE5767B9}" type="datetimeFigureOut">
              <a:rPr lang="en-UG" smtClean="0"/>
              <a:t>10/11/2025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D9168-9B31-CE5B-CCE9-806E4F4AE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73879-A2C3-42CB-072A-AFD023B4A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366F9-CF1E-47F6-9D8A-DE0CA5903F2D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071852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2D304-C0A3-C066-A5D5-24B4380AB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CF7FE-3D65-8DD0-982D-E85F60B217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BE68D0-7DD9-9568-B45F-49CC5F3091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7D1888-7527-DF1A-2206-1FE6FFEFC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EBDC8-0873-4A8F-B900-A0C3FE5767B9}" type="datetimeFigureOut">
              <a:rPr lang="en-UG" smtClean="0"/>
              <a:t>10/11/2025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EA0C4D-D6EB-A71E-E6B9-B72B7592C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9DE3F3-C7A6-1B54-9F82-E178D0CCA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366F9-CF1E-47F6-9D8A-DE0CA5903F2D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96584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69BB1-94D0-E996-4D80-36FCBA53F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73D40C-4E48-8F69-20EE-A6C0381F0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828EB-36AE-145C-87FE-44661E2DEE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3609F3-2D05-EFC1-AF49-932E67C473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CDCD69-3C49-65F3-210D-59620C0826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190E3E-A7E0-549D-8C8A-ECB03AF56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EBDC8-0873-4A8F-B900-A0C3FE5767B9}" type="datetimeFigureOut">
              <a:rPr lang="en-UG" smtClean="0"/>
              <a:t>10/11/2025</a:t>
            </a:fld>
            <a:endParaRPr lang="en-U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987D95-5B82-FC99-8A85-DBE15643C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5193D0-9E1B-8E27-0906-A7CB90ECC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366F9-CF1E-47F6-9D8A-DE0CA5903F2D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78061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4CFD0-956D-36D0-DEB1-9F6CD0E85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405D02-2C66-46F7-6B65-156DC3F27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EBDC8-0873-4A8F-B900-A0C3FE5767B9}" type="datetimeFigureOut">
              <a:rPr lang="en-UG" smtClean="0"/>
              <a:t>10/11/2025</a:t>
            </a:fld>
            <a:endParaRPr lang="en-U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B8C45B-7DF5-A5D0-6B59-6FFBB0019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F0AD46-5DB4-BF75-E82E-E0ACAC334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366F9-CF1E-47F6-9D8A-DE0CA5903F2D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793323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9AD767-B154-9DF8-0E2D-2BBABAA53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EBDC8-0873-4A8F-B900-A0C3FE5767B9}" type="datetimeFigureOut">
              <a:rPr lang="en-UG" smtClean="0"/>
              <a:t>10/11/2025</a:t>
            </a:fld>
            <a:endParaRPr lang="en-U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7B9CC6-73ED-3B51-F76D-623F6E0CF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59741-97A7-2624-1DEE-C3B2B59D3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366F9-CF1E-47F6-9D8A-DE0CA5903F2D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669423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0BFE6-2C72-1D8A-A645-9566E811C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50C4C-502D-7622-9D44-18CA100DA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E5FC51-1F51-B49F-DDE6-B14AE7C8E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4770A8-EFBB-CD06-B024-AB5F9631A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EBDC8-0873-4A8F-B900-A0C3FE5767B9}" type="datetimeFigureOut">
              <a:rPr lang="en-UG" smtClean="0"/>
              <a:t>10/11/2025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84F047-B394-14E2-755F-6D8A338B2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EA6526-5FAC-590E-FEA5-EBED54BDE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366F9-CF1E-47F6-9D8A-DE0CA5903F2D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946258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622BA-1B03-A8D2-3419-4FEE2207E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E1265C-084D-19D6-3D49-99C4E05771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E825D4-EF0F-3E98-F32D-0F12EB0692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0C557C-0EFC-5A78-9400-4DC52DBFB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EBDC8-0873-4A8F-B900-A0C3FE5767B9}" type="datetimeFigureOut">
              <a:rPr lang="en-UG" smtClean="0"/>
              <a:t>10/11/2025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46BDDC-F1A4-1117-D08E-954105066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EE1B78-E358-D1CD-A8A6-CDE1C5DC4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366F9-CF1E-47F6-9D8A-DE0CA5903F2D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295142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EA00F-8639-677C-A00A-A91F599C0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8BBD97-68DF-C75B-AD22-BE57757A5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E5FD3-01A4-51DA-1141-5F0D3AEF1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EBDC8-0873-4A8F-B900-A0C3FE5767B9}" type="datetimeFigureOut">
              <a:rPr lang="en-UG" smtClean="0"/>
              <a:t>10/11/2025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13DEB-3F2C-737D-F462-1AC76B697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D7FCE-797E-736F-131B-C46CA67D4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366F9-CF1E-47F6-9D8A-DE0CA5903F2D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533958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42F886-27F7-7B96-C764-7A7A97764F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219E04-D7C8-D2C7-CE94-AB30B4110C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42C4B-298B-5E41-CD8C-7CD188C7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EBDC8-0873-4A8F-B900-A0C3FE5767B9}" type="datetimeFigureOut">
              <a:rPr lang="en-UG" smtClean="0"/>
              <a:t>10/11/2025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C1202-E671-C790-2218-4FB1757E0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27218-6F25-5CDC-DB4E-B1E7B7548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366F9-CF1E-47F6-9D8A-DE0CA5903F2D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173517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574C17-CC5A-4F9A-AC90-9413AC239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7FFE7-75F7-58DE-69F4-835F3BD68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B3882-5903-0428-0B3E-F6F06E8192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EBDC8-0873-4A8F-B900-A0C3FE5767B9}" type="datetimeFigureOut">
              <a:rPr lang="en-UG" smtClean="0"/>
              <a:t>10/11/2025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030C5-C5E0-33F4-AD83-C268964DEB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842A3-75F7-1A35-1C7D-51DE7F4C8F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0366F9-CF1E-47F6-9D8A-DE0CA5903F2D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851221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21C552-0D27-1030-492D-3B06DF44F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5409" y="0"/>
            <a:ext cx="3070318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1DF307-8FE9-4C05-6772-131A742906F1}"/>
              </a:ext>
            </a:extLst>
          </p:cNvPr>
          <p:cNvSpPr txBox="1"/>
          <p:nvPr/>
        </p:nvSpPr>
        <p:spPr>
          <a:xfrm>
            <a:off x="16273" y="81930"/>
            <a:ext cx="9052560" cy="6694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b="1" dirty="0"/>
              <a:t>Module: Messaging</a:t>
            </a:r>
          </a:p>
          <a:p>
            <a:pPr>
              <a:buNone/>
            </a:pPr>
            <a:r>
              <a:rPr lang="en-US" sz="1100" b="1" dirty="0"/>
              <a:t>Screen Title: Messages – Evzone Rides</a:t>
            </a:r>
          </a:p>
          <a:p>
            <a:pPr>
              <a:buNone/>
            </a:pPr>
            <a:r>
              <a:rPr lang="en-US" sz="1100" b="1" dirty="0"/>
              <a:t>Purpose: </a:t>
            </a:r>
            <a:r>
              <a:rPr lang="en-US" sz="1100" dirty="0"/>
              <a:t>This screen allows users to view and manage their ongoing conversations across different services within the app — specifically focusing on </a:t>
            </a:r>
            <a:r>
              <a:rPr lang="en-US" sz="1100" b="1" dirty="0"/>
              <a:t>Evzone Rides</a:t>
            </a:r>
            <a:r>
              <a:rPr lang="en-US" sz="1100" dirty="0"/>
              <a:t> chats. It helps users stay connected with drivers, clients, or service providers through real-time messaging.</a:t>
            </a:r>
          </a:p>
          <a:p>
            <a:pPr>
              <a:buNone/>
            </a:pPr>
            <a:r>
              <a:rPr lang="en-US" sz="1100" b="1" dirty="0"/>
              <a:t>Main Sections</a:t>
            </a:r>
          </a:p>
          <a:p>
            <a:pPr>
              <a:buNone/>
            </a:pPr>
            <a:r>
              <a:rPr lang="en-US" sz="1100" b="1" dirty="0"/>
              <a:t>1. Header Area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Back Icon (Top Left):</a:t>
            </a:r>
            <a:r>
              <a:rPr lang="en-US" sz="1100" dirty="0"/>
              <a:t> Returns the user to the previous screen (e.g., Lessons or Dashboard).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Screen Title:</a:t>
            </a:r>
            <a:r>
              <a:rPr lang="en-US" sz="1100" dirty="0"/>
              <a:t> “Lessons” indicates the current section context.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Notification Bell (Top Right):</a:t>
            </a:r>
            <a:r>
              <a:rPr lang="en-US" sz="1100" dirty="0"/>
              <a:t> Displays alerts for new messages or updates.</a:t>
            </a:r>
          </a:p>
          <a:p>
            <a:pPr>
              <a:buNone/>
            </a:pPr>
            <a:r>
              <a:rPr lang="en-US" sz="1100" b="1" dirty="0"/>
              <a:t>2. Live Ongoing Section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Shows a card for an </a:t>
            </a:r>
            <a:r>
              <a:rPr lang="en-US" sz="1100" b="1" dirty="0"/>
              <a:t>active session</a:t>
            </a:r>
            <a:r>
              <a:rPr lang="en-US" sz="11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Profile photo and name of the tutor/service provider.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Subject and topic (e.g., </a:t>
            </a:r>
            <a:r>
              <a:rPr lang="en-US" sz="1100" i="1" dirty="0"/>
              <a:t>Newton’s Laws of Motion</a:t>
            </a:r>
            <a:r>
              <a:rPr lang="en-US" sz="1100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Indicates a live or in-progress activity the user can tap to revisit.</a:t>
            </a:r>
          </a:p>
          <a:p>
            <a:pPr>
              <a:buNone/>
            </a:pPr>
            <a:r>
              <a:rPr lang="en-US" sz="1100" b="1" dirty="0"/>
              <a:t>3. Message Drawer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Section Title:</a:t>
            </a:r>
            <a:r>
              <a:rPr lang="en-US" sz="1100" dirty="0"/>
              <a:t> “Messages” with an unread count badge (22).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Tabs: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Evzone Rides (Active Tab):</a:t>
            </a:r>
            <a:r>
              <a:rPr lang="en-US" sz="1100" dirty="0"/>
              <a:t> Shows ride-related conversations.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Other:</a:t>
            </a:r>
            <a:r>
              <a:rPr lang="en-US" sz="1100" dirty="0"/>
              <a:t> Displays messages from non-ride services (e.g., lessons, deliveries).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Action Icons: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Refresh:</a:t>
            </a:r>
            <a:r>
              <a:rPr lang="en-US" sz="1100" dirty="0"/>
              <a:t> Reloads the message list.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Search:</a:t>
            </a:r>
            <a:r>
              <a:rPr lang="en-US" sz="1100" dirty="0"/>
              <a:t> Lets users look up specific contacts or keywords.</a:t>
            </a:r>
          </a:p>
          <a:p>
            <a:pPr>
              <a:buNone/>
            </a:pPr>
            <a:r>
              <a:rPr lang="en-US" sz="1100" b="1" dirty="0"/>
              <a:t>4. Chat List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Displays recent conversations with: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User’s profile image and name.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Last message preview</a:t>
            </a:r>
            <a:r>
              <a:rPr lang="en-US" sz="1100" dirty="0"/>
              <a:t> and </a:t>
            </a:r>
            <a:r>
              <a:rPr lang="en-US" sz="1100" b="1" dirty="0"/>
              <a:t>timestamp</a:t>
            </a:r>
            <a:r>
              <a:rPr lang="en-US" sz="1100" dirty="0"/>
              <a:t> (e.g., “10:30 AM,” “Yesterday,” or a date).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Unread message badge</a:t>
            </a:r>
            <a:r>
              <a:rPr lang="en-US" sz="1100" dirty="0"/>
              <a:t> (small green indicator).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Typing status</a:t>
            </a:r>
            <a:r>
              <a:rPr lang="en-US" sz="1100" dirty="0"/>
              <a:t> for active users (e.g., “Etty Duke typing…”).</a:t>
            </a:r>
          </a:p>
          <a:p>
            <a:pPr>
              <a:buNone/>
            </a:pPr>
            <a:r>
              <a:rPr lang="en-US" sz="1100" b="1" dirty="0"/>
              <a:t>Visual Highlights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Accent Color:</a:t>
            </a:r>
            <a:r>
              <a:rPr lang="en-US" sz="1100" dirty="0"/>
              <a:t> Green, used for active elements and unread indicators.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Background:</a:t>
            </a:r>
            <a:r>
              <a:rPr lang="en-US" sz="1100" dirty="0"/>
              <a:t> White for readability and a clean interface.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Profile Images:</a:t>
            </a:r>
            <a:r>
              <a:rPr lang="en-US" sz="1100" dirty="0"/>
              <a:t> Circular format for consistency.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Layout:</a:t>
            </a:r>
            <a:r>
              <a:rPr lang="en-US" sz="1100" dirty="0"/>
              <a:t> Minimal and clear, emphasizing conversation flow.</a:t>
            </a:r>
          </a:p>
          <a:p>
            <a:pPr>
              <a:buNone/>
            </a:pPr>
            <a:r>
              <a:rPr lang="en-US" sz="1100" b="1" dirty="0"/>
              <a:t>User Flow Note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From:</a:t>
            </a:r>
            <a:r>
              <a:rPr lang="en-US" sz="1100" dirty="0"/>
              <a:t> Accessed via the </a:t>
            </a:r>
            <a:r>
              <a:rPr lang="en-US" sz="1100" b="1" dirty="0"/>
              <a:t>Messages</a:t>
            </a:r>
            <a:r>
              <a:rPr lang="en-US" sz="1100" dirty="0"/>
              <a:t> or </a:t>
            </a:r>
            <a:r>
              <a:rPr lang="en-US" sz="1100" b="1" dirty="0"/>
              <a:t>Chats</a:t>
            </a:r>
            <a:r>
              <a:rPr lang="en-US" sz="1100" dirty="0"/>
              <a:t> icon from the main dashboard.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To: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Tapping a contact opens the </a:t>
            </a:r>
            <a:r>
              <a:rPr lang="en-US" sz="1100" b="1" dirty="0"/>
              <a:t>Chat Conversation Screen</a:t>
            </a:r>
            <a:r>
              <a:rPr lang="en-US" sz="11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Switching to the </a:t>
            </a:r>
            <a:r>
              <a:rPr lang="en-US" sz="1100" b="1" dirty="0"/>
              <a:t>Other</a:t>
            </a:r>
            <a:r>
              <a:rPr lang="en-US" sz="1100" dirty="0"/>
              <a:t> tab shows non-ride-related chats.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The </a:t>
            </a:r>
            <a:r>
              <a:rPr lang="en-US" sz="1100" b="1" dirty="0"/>
              <a:t>Back</a:t>
            </a:r>
            <a:r>
              <a:rPr lang="en-US" sz="1100" dirty="0"/>
              <a:t> icon returns to the dashboard or the previous module (e.g., Lessons).</a:t>
            </a:r>
          </a:p>
        </p:txBody>
      </p:sp>
    </p:spTree>
    <p:extLst>
      <p:ext uri="{BB962C8B-B14F-4D97-AF65-F5344CB8AC3E}">
        <p14:creationId xmlns:p14="http://schemas.microsoft.com/office/powerpoint/2010/main" val="1824091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A36800-6986-2813-A6A4-D70DD5586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5409" y="0"/>
            <a:ext cx="3070318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5F2974C-F24E-28D3-EEEA-9154CE5BC60A}"/>
              </a:ext>
            </a:extLst>
          </p:cNvPr>
          <p:cNvSpPr txBox="1"/>
          <p:nvPr/>
        </p:nvSpPr>
        <p:spPr>
          <a:xfrm>
            <a:off x="0" y="-80832"/>
            <a:ext cx="9015984" cy="7371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b="1" dirty="0"/>
              <a:t>Module: Messaging</a:t>
            </a:r>
          </a:p>
          <a:p>
            <a:pPr>
              <a:buNone/>
            </a:pPr>
            <a:r>
              <a:rPr lang="en-US" sz="1100" b="1" dirty="0"/>
              <a:t>Screen Title: Messages – Evzone Rides</a:t>
            </a:r>
          </a:p>
          <a:p>
            <a:pPr>
              <a:buNone/>
            </a:pPr>
            <a:r>
              <a:rPr lang="en-US" sz="1100" b="1" dirty="0"/>
              <a:t>Purpose:</a:t>
            </a:r>
          </a:p>
          <a:p>
            <a:pPr>
              <a:buNone/>
            </a:pPr>
            <a:r>
              <a:rPr lang="en-US" sz="1100" dirty="0"/>
              <a:t>This screen enables users to view, organize, and manage conversations within the </a:t>
            </a:r>
            <a:r>
              <a:rPr lang="en-US" sz="1100" b="1" dirty="0"/>
              <a:t>Evzone Rides</a:t>
            </a:r>
            <a:r>
              <a:rPr lang="en-US" sz="1100" dirty="0"/>
              <a:t> section of the super app. It helps users keep track of communication with drivers, customers, or service providers in one place.</a:t>
            </a:r>
          </a:p>
          <a:p>
            <a:pPr>
              <a:buNone/>
            </a:pPr>
            <a:r>
              <a:rPr lang="en-US" sz="1100" b="1" dirty="0"/>
              <a:t>Sections</a:t>
            </a:r>
          </a:p>
          <a:p>
            <a:pPr>
              <a:buNone/>
            </a:pPr>
            <a:r>
              <a:rPr lang="en-US" sz="1100" b="1" dirty="0"/>
              <a:t>1. Header Area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Back Icon (Top Left):</a:t>
            </a:r>
            <a:r>
              <a:rPr lang="en-US" sz="1100" dirty="0"/>
              <a:t> Allows the user to return to the previous screen (e.g., Lessons or Dashboard).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Screen Title:</a:t>
            </a:r>
            <a:r>
              <a:rPr lang="en-US" sz="1100" dirty="0"/>
              <a:t> “Lessons” shows the broader app section the user is currently in.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Notification Bell (Top Right):</a:t>
            </a:r>
            <a:r>
              <a:rPr lang="en-US" sz="1100" dirty="0"/>
              <a:t> Indicates alerts such as new messages, updates, or ride notifications.</a:t>
            </a:r>
          </a:p>
          <a:p>
            <a:pPr>
              <a:buNone/>
            </a:pPr>
            <a:r>
              <a:rPr lang="en-US" sz="1100" b="1" dirty="0"/>
              <a:t>2. Live Ongoing Section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Displays a </a:t>
            </a:r>
            <a:r>
              <a:rPr lang="en-US" sz="1100" b="1" dirty="0"/>
              <a:t>current live session card</a:t>
            </a:r>
            <a:r>
              <a:rPr lang="en-US" sz="1100" dirty="0"/>
              <a:t>, showing: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Profile Photo and Name</a:t>
            </a:r>
            <a:r>
              <a:rPr lang="en-US" sz="1100" dirty="0"/>
              <a:t> (e.g., Leslie Alexander).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Subject Title:</a:t>
            </a:r>
            <a:r>
              <a:rPr lang="en-US" sz="1100" dirty="0"/>
              <a:t> “Mathematics.”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Lesson Topic:</a:t>
            </a:r>
            <a:r>
              <a:rPr lang="en-US" sz="1100" dirty="0"/>
              <a:t> “Newton’s Laws of Motion.”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Indicates a live or ongoing session that can be tapped to open for details or participation.</a:t>
            </a:r>
          </a:p>
          <a:p>
            <a:pPr>
              <a:buNone/>
            </a:pPr>
            <a:r>
              <a:rPr lang="en-US" sz="1100" b="1" dirty="0"/>
              <a:t>3. Messages Drawer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Title:</a:t>
            </a:r>
            <a:r>
              <a:rPr lang="en-US" sz="1100" dirty="0"/>
              <a:t> “Messages” with an unread count indicator (22).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Action Icons: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Refresh Icon:</a:t>
            </a:r>
            <a:r>
              <a:rPr lang="en-US" sz="1100" dirty="0"/>
              <a:t> Reloads the latest chat list.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Search Icon:</a:t>
            </a:r>
            <a:r>
              <a:rPr lang="en-US" sz="1100" dirty="0"/>
              <a:t> Allows the user to look up contacts or specific conversations.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Tabs: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Evzone Rides (Active Tab):</a:t>
            </a:r>
            <a:r>
              <a:rPr lang="en-US" sz="1100" dirty="0"/>
              <a:t> Displays ride-related conversations.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Other:</a:t>
            </a:r>
            <a:r>
              <a:rPr lang="en-US" sz="1100" dirty="0"/>
              <a:t> Shows messages from different modules (e.g., Lessons, Deliveries, Marketplace).</a:t>
            </a:r>
          </a:p>
          <a:p>
            <a:pPr>
              <a:buNone/>
            </a:pPr>
            <a:r>
              <a:rPr lang="en-US" sz="1100" b="1" dirty="0"/>
              <a:t>4. Chat List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Displays active and recent conversations, each showing: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Profile Image</a:t>
            </a:r>
            <a:r>
              <a:rPr lang="en-US" sz="1100" dirty="0"/>
              <a:t> and </a:t>
            </a:r>
            <a:r>
              <a:rPr lang="en-US" sz="1100" b="1" dirty="0"/>
              <a:t>Name.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Last Message Snippet</a:t>
            </a:r>
            <a:r>
              <a:rPr lang="en-US" sz="1100" dirty="0"/>
              <a:t> (e.g., “When will the contract be sent?”).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Timestamp</a:t>
            </a:r>
            <a:r>
              <a:rPr lang="en-US" sz="1100" dirty="0"/>
              <a:t> (e.g., “10:30 AM,” “Yesterday,” or a date).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Unread Message Count</a:t>
            </a:r>
            <a:r>
              <a:rPr lang="en-US" sz="1100" dirty="0"/>
              <a:t> shown in a small green badge.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Typing Indicator</a:t>
            </a:r>
            <a:r>
              <a:rPr lang="en-US" sz="1100" dirty="0"/>
              <a:t> for live chats (e.g., “Etty Duke typing…”).</a:t>
            </a:r>
          </a:p>
          <a:p>
            <a:pPr>
              <a:buNone/>
            </a:pPr>
            <a:r>
              <a:rPr lang="en-US" sz="1100" b="1" dirty="0"/>
              <a:t>Visual Highlights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Active Tab Color:</a:t>
            </a:r>
            <a:r>
              <a:rPr lang="en-US" sz="1100" dirty="0"/>
              <a:t> Green, representing selection and activity.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Unread Badge:</a:t>
            </a:r>
            <a:r>
              <a:rPr lang="en-US" sz="1100" dirty="0"/>
              <a:t> Small green circles beside messages.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Overall Layout:</a:t>
            </a:r>
            <a:r>
              <a:rPr lang="en-US" sz="1100" dirty="0"/>
              <a:t> Clean white background for readability, rounded avatars for a consistent modern look.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Icons:</a:t>
            </a:r>
            <a:r>
              <a:rPr lang="en-US" sz="1100" dirty="0"/>
              <a:t> Minimalistic and consistent with the app’s rounded, soft-edge style.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Typography:</a:t>
            </a:r>
            <a:r>
              <a:rPr lang="en-US" sz="1100" dirty="0"/>
              <a:t> Clear hierarchy — user names bold, messages lighter, timestamps smaller.</a:t>
            </a:r>
          </a:p>
          <a:p>
            <a:pPr>
              <a:buNone/>
            </a:pPr>
            <a:r>
              <a:rPr lang="en-US" sz="1100" b="1" dirty="0"/>
              <a:t>User Flow Note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From:</a:t>
            </a:r>
            <a:r>
              <a:rPr lang="en-US" sz="1100" dirty="0"/>
              <a:t> Accessed through the </a:t>
            </a:r>
            <a:r>
              <a:rPr lang="en-US" sz="1100" b="1" dirty="0"/>
              <a:t>Messages</a:t>
            </a:r>
            <a:r>
              <a:rPr lang="en-US" sz="1100" dirty="0"/>
              <a:t> shortcut or from the main dashboard navigation.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To: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Selecting a contact opens the </a:t>
            </a:r>
            <a:r>
              <a:rPr lang="en-US" sz="1100" b="1" dirty="0"/>
              <a:t>Chat Conversation Screen.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Switching to the </a:t>
            </a:r>
            <a:r>
              <a:rPr lang="en-US" sz="1100" b="1" dirty="0"/>
              <a:t>Other</a:t>
            </a:r>
            <a:r>
              <a:rPr lang="en-US" sz="1100" dirty="0"/>
              <a:t> tab reveals non-ride-related chats.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The </a:t>
            </a:r>
            <a:r>
              <a:rPr lang="en-US" sz="1100" b="1" dirty="0"/>
              <a:t>Back</a:t>
            </a:r>
            <a:r>
              <a:rPr lang="en-US" sz="1100" dirty="0"/>
              <a:t> button returns the user to the previous active module (e.g., Lessons).</a:t>
            </a:r>
          </a:p>
        </p:txBody>
      </p:sp>
    </p:spTree>
    <p:extLst>
      <p:ext uri="{BB962C8B-B14F-4D97-AF65-F5344CB8AC3E}">
        <p14:creationId xmlns:p14="http://schemas.microsoft.com/office/powerpoint/2010/main" val="2658208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CD0CEE-E4A3-07DF-8D59-121710A45F8B}"/>
              </a:ext>
            </a:extLst>
          </p:cNvPr>
          <p:cNvSpPr txBox="1"/>
          <p:nvPr/>
        </p:nvSpPr>
        <p:spPr>
          <a:xfrm>
            <a:off x="0" y="0"/>
            <a:ext cx="8997696" cy="8386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b="1" dirty="0"/>
              <a:t>Module: Messaging</a:t>
            </a:r>
          </a:p>
          <a:p>
            <a:pPr>
              <a:buNone/>
            </a:pPr>
            <a:r>
              <a:rPr lang="en-US" sz="1100" b="1" dirty="0"/>
              <a:t>Screen Title: Chat Conversation – Evzone Rides</a:t>
            </a:r>
          </a:p>
          <a:p>
            <a:pPr>
              <a:buNone/>
            </a:pPr>
            <a:r>
              <a:rPr lang="en-US" sz="1100" b="1" dirty="0"/>
              <a:t>Purpose:</a:t>
            </a:r>
          </a:p>
          <a:p>
            <a:pPr>
              <a:buNone/>
            </a:pPr>
            <a:r>
              <a:rPr lang="en-US" sz="1100" dirty="0"/>
              <a:t>This screen allows users to engage in one-on-one conversations with a contact (in this case, Etty Duke). It supports text, media, document, and location sharing, enabling seamless communication between riders, drivers, or service providers.</a:t>
            </a:r>
          </a:p>
          <a:p>
            <a:pPr>
              <a:buNone/>
            </a:pPr>
            <a:r>
              <a:rPr lang="en-US" sz="1100" b="1" dirty="0"/>
              <a:t>Sections</a:t>
            </a:r>
          </a:p>
          <a:p>
            <a:pPr>
              <a:buNone/>
            </a:pPr>
            <a:r>
              <a:rPr lang="en-US" sz="1100" b="1" dirty="0"/>
              <a:t>1. Header Area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Back Icon (Top Left):</a:t>
            </a:r>
            <a:r>
              <a:rPr lang="en-US" sz="1100" dirty="0"/>
              <a:t> Returns the user to the Messages list screen.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Contact Info: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Profile Image &amp; Name</a:t>
            </a:r>
            <a:r>
              <a:rPr lang="en-US" sz="1100" dirty="0"/>
              <a:t> (e.g., </a:t>
            </a:r>
            <a:r>
              <a:rPr lang="en-US" sz="1100" i="1" dirty="0"/>
              <a:t>Etty Duke</a:t>
            </a:r>
            <a:r>
              <a:rPr lang="en-US" sz="1100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Status Indicator:</a:t>
            </a:r>
            <a:r>
              <a:rPr lang="en-US" sz="1100" dirty="0"/>
              <a:t> Shows “Online” when the contact is active.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Action Icons (Right Side):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Call Icon:</a:t>
            </a:r>
            <a:r>
              <a:rPr lang="en-US" sz="1100" dirty="0"/>
              <a:t> Initiates a voice call.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Video Call Icon:</a:t>
            </a:r>
            <a:r>
              <a:rPr lang="en-US" sz="1100" dirty="0"/>
              <a:t> Starts a video chat.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Menu (Three Dots):</a:t>
            </a:r>
            <a:r>
              <a:rPr lang="en-US" sz="1100" dirty="0"/>
              <a:t> Opens additional options such as viewing contact details or clearing chat.</a:t>
            </a:r>
          </a:p>
          <a:p>
            <a:pPr>
              <a:buNone/>
            </a:pPr>
            <a:r>
              <a:rPr lang="en-US" sz="1100" b="1" dirty="0"/>
              <a:t>2. Chat Body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Message Bubbles: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User Messages:</a:t>
            </a:r>
            <a:r>
              <a:rPr lang="en-US" sz="1100" dirty="0"/>
              <a:t> Shown in dark blue bubbles aligned to the right.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Received Messages:</a:t>
            </a:r>
            <a:r>
              <a:rPr lang="en-US" sz="1100" dirty="0"/>
              <a:t> Shown in light blue bubbles aligned to the left.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Timestamps:</a:t>
            </a:r>
            <a:r>
              <a:rPr lang="en-US" sz="1100" dirty="0"/>
              <a:t> Displayed beside each message (e.g., “07:38 PM”).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Message Status Indicators:</a:t>
            </a:r>
            <a:r>
              <a:rPr lang="en-US" sz="1100" dirty="0"/>
              <a:t> Double checkmarks show message delivery and read status.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Attachments: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Images displayed in thumbnail format.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Audio messages shown with a playback bar (duration visible).</a:t>
            </a:r>
          </a:p>
          <a:p>
            <a:pPr>
              <a:buNone/>
            </a:pPr>
            <a:r>
              <a:rPr lang="en-US" sz="1100" b="1" dirty="0"/>
              <a:t>3. Media Attachment Menu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Accessed by tapping the </a:t>
            </a:r>
            <a:r>
              <a:rPr lang="en-US" sz="1100" b="1" dirty="0"/>
              <a:t>“+” icon</a:t>
            </a:r>
            <a:r>
              <a:rPr lang="en-US" sz="1100" dirty="0"/>
              <a:t> next to the input field.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Options include: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Camera</a:t>
            </a:r>
            <a:r>
              <a:rPr lang="en-US" sz="1100" dirty="0"/>
              <a:t> – Capture and send a photo/video instantly.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Document</a:t>
            </a:r>
            <a:r>
              <a:rPr lang="en-US" sz="1100" dirty="0"/>
              <a:t> – Attach a file from the device.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Photos &amp; Videos</a:t>
            </a:r>
            <a:r>
              <a:rPr lang="en-US" sz="1100" dirty="0"/>
              <a:t> – Choose from the gallery.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Location</a:t>
            </a:r>
            <a:r>
              <a:rPr lang="en-US" sz="1100" dirty="0"/>
              <a:t> – Share real-time or static location.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Contact</a:t>
            </a:r>
            <a:r>
              <a:rPr lang="en-US" sz="1100" dirty="0"/>
              <a:t> – Send saved contact information.</a:t>
            </a:r>
          </a:p>
          <a:p>
            <a:pPr>
              <a:buNone/>
            </a:pPr>
            <a:r>
              <a:rPr lang="en-US" sz="1100" b="1" dirty="0"/>
              <a:t>4. Message Input Area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Text Field:</a:t>
            </a:r>
            <a:r>
              <a:rPr lang="en-US" sz="1100" dirty="0"/>
              <a:t> Placeholder text reads “Type a message.”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Emoji Icon:</a:t>
            </a:r>
            <a:r>
              <a:rPr lang="en-US" sz="1100" dirty="0"/>
              <a:t> Opens emoji picker for expressive communication.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Microphone Icon:</a:t>
            </a:r>
            <a:r>
              <a:rPr lang="en-US" sz="1100" dirty="0"/>
              <a:t> Enables voice message recording.</a:t>
            </a:r>
          </a:p>
          <a:p>
            <a:pPr>
              <a:buNone/>
            </a:pPr>
            <a:r>
              <a:rPr lang="en-US" sz="1100" b="1" dirty="0"/>
              <a:t>Visual Highlights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Active Color:</a:t>
            </a:r>
            <a:r>
              <a:rPr lang="en-US" sz="1100" dirty="0"/>
              <a:t> Green for online status and accent elements.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Chat Bubbles:</a:t>
            </a:r>
            <a:r>
              <a:rPr lang="en-US" sz="1100" dirty="0"/>
              <a:t> Rounded corners for a soft, modern look.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Background:</a:t>
            </a:r>
            <a:r>
              <a:rPr lang="en-US" sz="1100" dirty="0"/>
              <a:t> Clean white, emphasizing contrast between messages.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Icons:</a:t>
            </a:r>
            <a:r>
              <a:rPr lang="en-US" sz="1100" dirty="0"/>
              <a:t> Minimal and uniform, ensuring a professional, consistent feel.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Attachment Menu:</a:t>
            </a:r>
            <a:r>
              <a:rPr lang="en-US" sz="1100" dirty="0"/>
              <a:t> Uses clear icons and spacing for easy selection.</a:t>
            </a:r>
          </a:p>
          <a:p>
            <a:pPr>
              <a:buNone/>
            </a:pPr>
            <a:r>
              <a:rPr lang="en-US" sz="1100" b="1" dirty="0"/>
              <a:t>User Flow Note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From:</a:t>
            </a:r>
            <a:r>
              <a:rPr lang="en-US" sz="1100" dirty="0"/>
              <a:t> Accessed by selecting a contact (e.g., </a:t>
            </a:r>
            <a:r>
              <a:rPr lang="en-US" sz="1100" i="1" dirty="0"/>
              <a:t>Etty Duke</a:t>
            </a:r>
            <a:r>
              <a:rPr lang="en-US" sz="1100" dirty="0"/>
              <a:t>) from the </a:t>
            </a:r>
            <a:r>
              <a:rPr lang="en-US" sz="1100" b="1" dirty="0"/>
              <a:t>Messages – Evzone Rides</a:t>
            </a:r>
            <a:r>
              <a:rPr lang="en-US" sz="1100" dirty="0"/>
              <a:t> screen.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To: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Tapping the </a:t>
            </a:r>
            <a:r>
              <a:rPr lang="en-US" sz="1100" b="1" dirty="0"/>
              <a:t>Back Icon</a:t>
            </a:r>
            <a:r>
              <a:rPr lang="en-US" sz="1100" dirty="0"/>
              <a:t> returns to the message list.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Call or Video icons</a:t>
            </a:r>
            <a:r>
              <a:rPr lang="en-US" sz="1100" dirty="0"/>
              <a:t> open the corresponding call interface.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Sending media or documents triggers in-chat updates.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The </a:t>
            </a:r>
            <a:r>
              <a:rPr lang="en-US" sz="1100" b="1" dirty="0"/>
              <a:t>Menu icon</a:t>
            </a:r>
            <a:r>
              <a:rPr lang="en-US" sz="1100" dirty="0"/>
              <a:t> navigates to contact details or chat settings.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54B878-840E-8CFC-BCC2-7AC085C9F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4553" y="0"/>
            <a:ext cx="30703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480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6854CC-C0E0-E75E-82F1-A98033885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5409" y="0"/>
            <a:ext cx="3070318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84C81D-6DD5-8BBD-7CB4-E1A84A2D9C4E}"/>
              </a:ext>
            </a:extLst>
          </p:cNvPr>
          <p:cNvSpPr txBox="1"/>
          <p:nvPr/>
        </p:nvSpPr>
        <p:spPr>
          <a:xfrm>
            <a:off x="16273" y="243512"/>
            <a:ext cx="7671816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/>
              <a:t>Module: Messaging</a:t>
            </a:r>
          </a:p>
          <a:p>
            <a:pPr>
              <a:buNone/>
            </a:pPr>
            <a:r>
              <a:rPr lang="en-US" sz="1200" b="1" dirty="0"/>
              <a:t>Screen Title: New Message – Select Participant</a:t>
            </a:r>
          </a:p>
          <a:p>
            <a:pPr>
              <a:buNone/>
            </a:pPr>
            <a:r>
              <a:rPr lang="en-US" sz="1200" b="1" dirty="0"/>
              <a:t>Purpose:</a:t>
            </a:r>
          </a:p>
          <a:p>
            <a:pPr>
              <a:buNone/>
            </a:pPr>
            <a:r>
              <a:rPr lang="en-US" sz="1200" dirty="0"/>
              <a:t>This screen allows users to start a new chat by selecting one or multiple participants from their contact list. It serves as the entry point for creating individual or group conversations within the Messaging module.</a:t>
            </a:r>
          </a:p>
          <a:p>
            <a:pPr>
              <a:buNone/>
            </a:pPr>
            <a:endParaRPr lang="en-US" sz="1200" dirty="0"/>
          </a:p>
          <a:p>
            <a:pPr>
              <a:buNone/>
            </a:pPr>
            <a:r>
              <a:rPr lang="en-US" sz="1200" b="1" dirty="0"/>
              <a:t>Sections</a:t>
            </a:r>
          </a:p>
          <a:p>
            <a:pPr>
              <a:buNone/>
            </a:pPr>
            <a:r>
              <a:rPr lang="en-US" sz="1200" b="1" dirty="0"/>
              <a:t>1. Header Area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Close Icon (Top Left):</a:t>
            </a:r>
            <a:r>
              <a:rPr lang="en-US" sz="1200" dirty="0"/>
              <a:t> Closes the new message window and returns to the Messages list.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Screen Title:</a:t>
            </a:r>
            <a:r>
              <a:rPr lang="en-US" sz="1200" dirty="0"/>
              <a:t> “New Message” clearly indicates the current action.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Search/To Field:</a:t>
            </a:r>
            <a:endParaRPr lang="en-US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Input area labeled </a:t>
            </a:r>
            <a:r>
              <a:rPr lang="en-US" sz="1200" b="1" dirty="0"/>
              <a:t>“To:”</a:t>
            </a:r>
            <a:r>
              <a:rPr lang="en-US" sz="1200" dirty="0"/>
              <a:t> where users can type one or multiple names.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Supports contact suggestions as users type.</a:t>
            </a:r>
          </a:p>
          <a:p>
            <a:pPr>
              <a:buNone/>
            </a:pPr>
            <a:r>
              <a:rPr lang="en-US" sz="1200" b="1" dirty="0"/>
              <a:t>2. Participant List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Section Label:</a:t>
            </a:r>
            <a:r>
              <a:rPr lang="en-US" sz="1200" dirty="0"/>
              <a:t> “Select Participant.”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Displays a scrollable list of available contacts, each with: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Profile Image</a:t>
            </a:r>
            <a:r>
              <a:rPr lang="en-US" sz="1200" dirty="0"/>
              <a:t> – circular avatar.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Contact Name</a:t>
            </a:r>
            <a:r>
              <a:rPr lang="en-US" sz="1200" dirty="0"/>
              <a:t> – displayed in bold text.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Example participants: Etty Duke, Zev Sharp, Gia Keith, Zalmen Knox, Benjamin Peck, Bessie Cooper, Guy Hawkins, Devon Lane.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Tapping a contact highlights the selection and adds them to the “To” field.</a:t>
            </a:r>
          </a:p>
          <a:p>
            <a:pPr>
              <a:buNone/>
            </a:pPr>
            <a:endParaRPr lang="en-US" sz="1200" dirty="0"/>
          </a:p>
          <a:p>
            <a:pPr>
              <a:buNone/>
            </a:pPr>
            <a:r>
              <a:rPr lang="en-US" sz="1200" b="1" dirty="0"/>
              <a:t>Visual Highlights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Clean White Background:</a:t>
            </a:r>
            <a:r>
              <a:rPr lang="en-US" sz="1200" dirty="0"/>
              <a:t> Keeps the focus on the contact list.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Profile Images:</a:t>
            </a:r>
            <a:r>
              <a:rPr lang="en-US" sz="1200" dirty="0"/>
              <a:t> Rounded, full-color photos for easy recognition.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Accent Elements:</a:t>
            </a:r>
            <a:r>
              <a:rPr lang="en-US" sz="1200" dirty="0"/>
              <a:t> Green tint for active input fields or selected contacts.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Typography:</a:t>
            </a:r>
            <a:r>
              <a:rPr lang="en-US" sz="1200" dirty="0"/>
              <a:t> Bold names with generous spacing between list items for readability.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Consistent Layout:</a:t>
            </a:r>
            <a:r>
              <a:rPr lang="en-US" sz="1200" dirty="0"/>
              <a:t> Follows the same top-drawer pop-up style as the main message interface.</a:t>
            </a:r>
          </a:p>
          <a:p>
            <a:pPr>
              <a:buNone/>
            </a:pPr>
            <a:endParaRPr lang="en-US" sz="1200" dirty="0"/>
          </a:p>
          <a:p>
            <a:pPr>
              <a:buNone/>
            </a:pPr>
            <a:r>
              <a:rPr lang="en-US" sz="1200" b="1" dirty="0"/>
              <a:t>User Flow Note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From:</a:t>
            </a:r>
            <a:r>
              <a:rPr lang="en-US" sz="1200" dirty="0"/>
              <a:t> Accessed by tapping the </a:t>
            </a:r>
            <a:r>
              <a:rPr lang="en-US" sz="1200" b="1" dirty="0"/>
              <a:t>new message icon</a:t>
            </a:r>
            <a:r>
              <a:rPr lang="en-US" sz="1200" dirty="0"/>
              <a:t> (✉️) from the </a:t>
            </a:r>
            <a:r>
              <a:rPr lang="en-US" sz="1200" b="1" dirty="0"/>
              <a:t>Messages – Evzone Rides</a:t>
            </a:r>
            <a:r>
              <a:rPr lang="en-US" sz="1200" dirty="0"/>
              <a:t> screen.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To:</a:t>
            </a:r>
            <a:endParaRPr lang="en-US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Selecting a contact or multiple participants opens the </a:t>
            </a:r>
            <a:r>
              <a:rPr lang="en-US" sz="1200" b="1" dirty="0"/>
              <a:t>Chat Conversation Screen</a:t>
            </a:r>
            <a:r>
              <a:rPr lang="en-US" sz="12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Pressing the </a:t>
            </a:r>
            <a:r>
              <a:rPr lang="en-US" sz="1200" b="1" dirty="0"/>
              <a:t>Close (X)</a:t>
            </a:r>
            <a:r>
              <a:rPr lang="en-US" sz="1200" dirty="0"/>
              <a:t> icon dismisses the screen and returns to the previous message list.</a:t>
            </a:r>
          </a:p>
        </p:txBody>
      </p:sp>
    </p:spTree>
    <p:extLst>
      <p:ext uri="{BB962C8B-B14F-4D97-AF65-F5344CB8AC3E}">
        <p14:creationId xmlns:p14="http://schemas.microsoft.com/office/powerpoint/2010/main" val="1558566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551B31-ED54-E025-B844-3725D0678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1985" y="0"/>
            <a:ext cx="3070318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B67914-C5F3-812B-13BB-6D6F6BA8F547}"/>
              </a:ext>
            </a:extLst>
          </p:cNvPr>
          <p:cNvSpPr txBox="1"/>
          <p:nvPr/>
        </p:nvSpPr>
        <p:spPr>
          <a:xfrm>
            <a:off x="0" y="0"/>
            <a:ext cx="8823960" cy="7709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b="1" dirty="0"/>
              <a:t>Module: Messaging</a:t>
            </a:r>
          </a:p>
          <a:p>
            <a:pPr>
              <a:buNone/>
            </a:pPr>
            <a:r>
              <a:rPr lang="en-US" sz="1100" b="1" dirty="0"/>
              <a:t>Screen Title: Chat Conversation – Media Exchange</a:t>
            </a:r>
          </a:p>
          <a:p>
            <a:pPr>
              <a:buNone/>
            </a:pPr>
            <a:r>
              <a:rPr lang="en-US" sz="1100" b="1" dirty="0"/>
              <a:t>Purpose:</a:t>
            </a:r>
          </a:p>
          <a:p>
            <a:pPr>
              <a:buNone/>
            </a:pPr>
            <a:r>
              <a:rPr lang="en-US" sz="1100" dirty="0"/>
              <a:t>This screen enables users to send and receive different types of media messages within a one-on-one chat. It allows for text, photo, video, and voice message exchanges, providing a rich communication experience between users (e.g., rider and driver).</a:t>
            </a:r>
          </a:p>
          <a:p>
            <a:pPr>
              <a:buNone/>
            </a:pPr>
            <a:r>
              <a:rPr lang="en-US" sz="1100" b="1" dirty="0"/>
              <a:t>Sections</a:t>
            </a:r>
          </a:p>
          <a:p>
            <a:pPr>
              <a:buNone/>
            </a:pPr>
            <a:r>
              <a:rPr lang="en-US" sz="1100" b="1" dirty="0"/>
              <a:t>1. Header Area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Back Icon (Top Left):</a:t>
            </a:r>
            <a:r>
              <a:rPr lang="en-US" sz="1100" dirty="0"/>
              <a:t> Returns the user to the Messages list screen.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Contact Info: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Profile Image &amp; Name:</a:t>
            </a:r>
            <a:r>
              <a:rPr lang="en-US" sz="1100" dirty="0"/>
              <a:t> Displays the contact’s avatar and name (e.g., </a:t>
            </a:r>
            <a:r>
              <a:rPr lang="en-US" sz="1100" i="1" dirty="0"/>
              <a:t>Etty Duke</a:t>
            </a:r>
            <a:r>
              <a:rPr lang="en-US" sz="1100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Online Status:</a:t>
            </a:r>
            <a:r>
              <a:rPr lang="en-US" sz="1100" dirty="0"/>
              <a:t> Shows the user’s availability in green (“Online”).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Action Icons (Right Side):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Call Icon:</a:t>
            </a:r>
            <a:r>
              <a:rPr lang="en-US" sz="1100" dirty="0"/>
              <a:t> Initiates a voice call.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Video Call Icon:</a:t>
            </a:r>
            <a:r>
              <a:rPr lang="en-US" sz="1100" dirty="0"/>
              <a:t> Opens the video chat interface.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Menu (Three Dots):</a:t>
            </a:r>
            <a:r>
              <a:rPr lang="en-US" sz="1100" dirty="0"/>
              <a:t> Provides access to chat options (e.g., View Contact, Delete Chat, or Report).</a:t>
            </a:r>
          </a:p>
          <a:p>
            <a:pPr>
              <a:buNone/>
            </a:pPr>
            <a:r>
              <a:rPr lang="en-US" sz="1100" b="1" dirty="0"/>
              <a:t>2. Chat Body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Message Bubbles: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Outgoing Messages:</a:t>
            </a:r>
            <a:r>
              <a:rPr lang="en-US" sz="1100" dirty="0"/>
              <a:t> Shown in dark blue bubbles on the right side.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Incoming Messages:</a:t>
            </a:r>
            <a:r>
              <a:rPr lang="en-US" sz="1100" dirty="0"/>
              <a:t> Shown in light blue bubbles on the left side.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Timestamps:</a:t>
            </a:r>
            <a:r>
              <a:rPr lang="en-US" sz="1100" dirty="0"/>
              <a:t> Each message shows its time (e.g., “07:38 PM”).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Read Receipts:</a:t>
            </a:r>
            <a:r>
              <a:rPr lang="en-US" sz="1100" dirty="0"/>
              <a:t> Double checkmarks indicate message delivery and read status.</a:t>
            </a:r>
          </a:p>
          <a:p>
            <a:pPr>
              <a:buNone/>
            </a:pPr>
            <a:r>
              <a:rPr lang="en-US" sz="1100" b="1" dirty="0"/>
              <a:t>3. Media Messages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Image/Video Preview: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Shared media appears as rectangular thumbnails within the chat.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The video preview includes a play icon overlay.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Voice Message Playback: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A waveform visual and play button are displayed for audio recordings.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Duration is shown (e.g., </a:t>
            </a:r>
            <a:r>
              <a:rPr lang="en-US" sz="1100" i="1" dirty="0"/>
              <a:t>02:33</a:t>
            </a:r>
            <a:r>
              <a:rPr lang="en-US" sz="1100" dirty="0"/>
              <a:t>).</a:t>
            </a:r>
          </a:p>
          <a:p>
            <a:pPr>
              <a:buNone/>
            </a:pPr>
            <a:r>
              <a:rPr lang="en-US" sz="1100" b="1" dirty="0"/>
              <a:t>4. Message Input Area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Plus (+) Icon:</a:t>
            </a:r>
            <a:r>
              <a:rPr lang="en-US" sz="1100" dirty="0"/>
              <a:t> Opens media and file attachment options (camera, gallery, document, etc.).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Text Field:</a:t>
            </a:r>
            <a:r>
              <a:rPr lang="en-US" sz="1100" dirty="0"/>
              <a:t> Placeholder reads “Type a message.”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Emoji Icon:</a:t>
            </a:r>
            <a:r>
              <a:rPr lang="en-US" sz="1100" dirty="0"/>
              <a:t> Opens emoji picker.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Microphone Icon:</a:t>
            </a:r>
            <a:r>
              <a:rPr lang="en-US" sz="1100" dirty="0"/>
              <a:t> Used to record and send voice messages.</a:t>
            </a:r>
          </a:p>
          <a:p>
            <a:pPr>
              <a:buNone/>
            </a:pPr>
            <a:r>
              <a:rPr lang="en-US" sz="1100" b="1" dirty="0"/>
              <a:t>Visual Highlights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Accent Color:</a:t>
            </a:r>
            <a:r>
              <a:rPr lang="en-US" sz="1100" dirty="0"/>
              <a:t> Green, used for status text and highlights.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Chat Bubbles:</a:t>
            </a:r>
            <a:r>
              <a:rPr lang="en-US" sz="1100" dirty="0"/>
              <a:t> Rounded and neatly aligned for a clean, modern interface.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Media Cards:</a:t>
            </a:r>
            <a:r>
              <a:rPr lang="en-US" sz="1100" dirty="0"/>
              <a:t> Display full-width within chat for clarity and emphasis.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Waveform Bar:</a:t>
            </a:r>
            <a:r>
              <a:rPr lang="en-US" sz="1100" dirty="0"/>
              <a:t> Adds a visual cue for voice message duration.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Consistent Spacing:</a:t>
            </a:r>
            <a:r>
              <a:rPr lang="en-US" sz="1100" dirty="0"/>
              <a:t> Ensures messages are well separated and easy to read.</a:t>
            </a:r>
          </a:p>
          <a:p>
            <a:pPr>
              <a:buNone/>
            </a:pPr>
            <a:r>
              <a:rPr lang="en-US" sz="1100" b="1" dirty="0"/>
              <a:t>User Flow Note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From:</a:t>
            </a:r>
            <a:r>
              <a:rPr lang="en-US" sz="1100" dirty="0"/>
              <a:t> Accessed by tapping a contact from the </a:t>
            </a:r>
            <a:r>
              <a:rPr lang="en-US" sz="1100" b="1" dirty="0"/>
              <a:t>Messages – Evzone Rides</a:t>
            </a:r>
            <a:r>
              <a:rPr lang="en-US" sz="1100" dirty="0"/>
              <a:t> list.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To: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Sending any media (photo, video, or voice) updates the conversation thread instantly.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Tapping the </a:t>
            </a:r>
            <a:r>
              <a:rPr lang="en-US" sz="1100" b="1" dirty="0"/>
              <a:t>Back Icon</a:t>
            </a:r>
            <a:r>
              <a:rPr lang="en-US" sz="1100" dirty="0"/>
              <a:t> returns the user to the main message list.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Selecting the </a:t>
            </a:r>
            <a:r>
              <a:rPr lang="en-US" sz="1100" b="1" dirty="0"/>
              <a:t>Menu</a:t>
            </a:r>
            <a:r>
              <a:rPr lang="en-US" sz="1100" dirty="0"/>
              <a:t> icon leads to chat options like clearing the conversation or viewing contact details.</a:t>
            </a:r>
          </a:p>
        </p:txBody>
      </p:sp>
    </p:spTree>
    <p:extLst>
      <p:ext uri="{BB962C8B-B14F-4D97-AF65-F5344CB8AC3E}">
        <p14:creationId xmlns:p14="http://schemas.microsoft.com/office/powerpoint/2010/main" val="1154378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7883F3-E96E-D7D7-3F01-D175B2726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5409" y="0"/>
            <a:ext cx="3070318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6C4C1E-883D-287A-F33A-5E429377750A}"/>
              </a:ext>
            </a:extLst>
          </p:cNvPr>
          <p:cNvSpPr txBox="1"/>
          <p:nvPr/>
        </p:nvSpPr>
        <p:spPr>
          <a:xfrm>
            <a:off x="0" y="-66973"/>
            <a:ext cx="8805672" cy="6924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/>
              <a:t>Module: Messaging</a:t>
            </a:r>
          </a:p>
          <a:p>
            <a:pPr>
              <a:buNone/>
            </a:pPr>
            <a:r>
              <a:rPr lang="en-US" sz="1200" b="1" dirty="0"/>
              <a:t>Screen Title: Media Playback – Chat Attachment</a:t>
            </a:r>
          </a:p>
          <a:p>
            <a:pPr>
              <a:buNone/>
            </a:pPr>
            <a:r>
              <a:rPr lang="en-US" sz="1200" b="1" dirty="0"/>
              <a:t>Purpose:</a:t>
            </a:r>
          </a:p>
          <a:p>
            <a:pPr>
              <a:buNone/>
            </a:pPr>
            <a:r>
              <a:rPr lang="en-US" sz="1200" dirty="0"/>
              <a:t>This screen allows users to view or play a shared media file (video or image) from a chat conversation. It provides an immersive preview and playback interface with essential controls for watching, pausing, and sharing media received in chats.</a:t>
            </a:r>
          </a:p>
          <a:p>
            <a:pPr>
              <a:buNone/>
            </a:pPr>
            <a:r>
              <a:rPr lang="en-US" sz="1200" b="1" dirty="0"/>
              <a:t>Sections</a:t>
            </a:r>
          </a:p>
          <a:p>
            <a:pPr>
              <a:buNone/>
            </a:pPr>
            <a:r>
              <a:rPr lang="en-US" sz="1200" b="1" dirty="0"/>
              <a:t>1. Header Area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Back Arrow (Top Left):</a:t>
            </a:r>
            <a:r>
              <a:rPr lang="en-US" sz="1200" dirty="0"/>
              <a:t> Returns to the previous chat conversation screen.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Contact Information:</a:t>
            </a:r>
            <a:endParaRPr lang="en-US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Profile Image and Name</a:t>
            </a:r>
            <a:r>
              <a:rPr lang="en-US" sz="1200" dirty="0"/>
              <a:t> (e.g., </a:t>
            </a:r>
            <a:r>
              <a:rPr lang="en-US" sz="1200" i="1" dirty="0"/>
              <a:t>Etty Duke</a:t>
            </a:r>
            <a:r>
              <a:rPr lang="en-US" sz="1200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Timestamp:</a:t>
            </a:r>
            <a:r>
              <a:rPr lang="en-US" sz="1200" dirty="0"/>
              <a:t> Shows when the media was sent (e.g., </a:t>
            </a:r>
            <a:r>
              <a:rPr lang="en-US" sz="1200" i="1" dirty="0"/>
              <a:t>Jul 7, 10:30 am</a:t>
            </a:r>
            <a:r>
              <a:rPr lang="en-US" sz="1200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Action Icons (Right Side):</a:t>
            </a:r>
            <a:endParaRPr lang="en-US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Share Icon:</a:t>
            </a:r>
            <a:r>
              <a:rPr lang="en-US" sz="1200" dirty="0"/>
              <a:t> Allows the user to forward or share the media file externally or within another chat.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Menu (Three Dots):</a:t>
            </a:r>
            <a:r>
              <a:rPr lang="en-US" sz="1200" dirty="0"/>
              <a:t> Opens additional options such as download, delete, or report.</a:t>
            </a:r>
          </a:p>
          <a:p>
            <a:pPr>
              <a:buNone/>
            </a:pPr>
            <a:r>
              <a:rPr lang="en-US" sz="1200" b="1" dirty="0"/>
              <a:t>2. Media Viewer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Media Display Area:</a:t>
            </a:r>
            <a:endParaRPr lang="en-US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Large centered video player with playback controls (play/pause and skip).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Image preview shown if the file is a photo.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Clean white background to enhance focus on the media.</a:t>
            </a:r>
          </a:p>
          <a:p>
            <a:pPr>
              <a:buNone/>
            </a:pPr>
            <a:r>
              <a:rPr lang="en-US" sz="1200" b="1" dirty="0"/>
              <a:t>3. Playback Controls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Seek Bar:</a:t>
            </a:r>
            <a:endParaRPr lang="en-US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Horizontal progress bar showing playback duration.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Elapsed Time and Total Duration</a:t>
            </a:r>
            <a:r>
              <a:rPr lang="en-US" sz="1200" dirty="0"/>
              <a:t> (e.g., </a:t>
            </a:r>
            <a:r>
              <a:rPr lang="en-US" sz="1200" i="1" dirty="0"/>
              <a:t>00:25 / 01:30</a:t>
            </a:r>
            <a:r>
              <a:rPr lang="en-US" sz="1200" dirty="0"/>
              <a:t>) displayed on the bottom right.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Interactive Control:</a:t>
            </a:r>
            <a:r>
              <a:rPr lang="en-US" sz="1200" dirty="0"/>
              <a:t> Users can drag the seek handle to jump to specific parts of the media.</a:t>
            </a:r>
          </a:p>
          <a:p>
            <a:pPr>
              <a:buNone/>
            </a:pPr>
            <a:endParaRPr lang="en-US" sz="1200" dirty="0"/>
          </a:p>
          <a:p>
            <a:pPr>
              <a:buNone/>
            </a:pPr>
            <a:r>
              <a:rPr lang="en-US" sz="1200" b="1" dirty="0"/>
              <a:t>Visual Highlights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Consistent Accent Color:</a:t>
            </a:r>
            <a:r>
              <a:rPr lang="en-US" sz="1200" dirty="0"/>
              <a:t> Blue for playback progress and control highlights.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Rounded Media Frame:</a:t>
            </a:r>
            <a:r>
              <a:rPr lang="en-US" sz="1200" dirty="0"/>
              <a:t> Keeps the player’s visual consistent with the app’s soft, modern design.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Profile Area:</a:t>
            </a:r>
            <a:r>
              <a:rPr lang="en-US" sz="1200" dirty="0"/>
              <a:t> Subtle gray text for time details, maintaining focus on the media.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Minimal Icons:</a:t>
            </a:r>
            <a:r>
              <a:rPr lang="en-US" sz="1200" dirty="0"/>
              <a:t> Simple, clean, and well-spaced icons to prevent clutter.</a:t>
            </a:r>
          </a:p>
          <a:p>
            <a:pPr>
              <a:buNone/>
            </a:pPr>
            <a:endParaRPr lang="en-US" sz="1200" dirty="0"/>
          </a:p>
          <a:p>
            <a:pPr>
              <a:buNone/>
            </a:pPr>
            <a:r>
              <a:rPr lang="en-US" sz="1200" b="1" dirty="0"/>
              <a:t>User Flow Note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From:</a:t>
            </a:r>
            <a:r>
              <a:rPr lang="en-US" sz="1200" dirty="0"/>
              <a:t> Accessed when a user taps on a photo or video message inside the </a:t>
            </a:r>
            <a:r>
              <a:rPr lang="en-US" sz="1200" b="1" dirty="0"/>
              <a:t>Chat Conversation Screen</a:t>
            </a:r>
            <a:r>
              <a:rPr lang="en-US" sz="1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To:</a:t>
            </a:r>
            <a:endParaRPr lang="en-US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Tapping </a:t>
            </a:r>
            <a:r>
              <a:rPr lang="en-US" sz="1200" b="1" dirty="0"/>
              <a:t>Back</a:t>
            </a:r>
            <a:r>
              <a:rPr lang="en-US" sz="1200" dirty="0"/>
              <a:t> returns the user to the chat thread.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The </a:t>
            </a:r>
            <a:r>
              <a:rPr lang="en-US" sz="1200" b="1" dirty="0"/>
              <a:t>Share icon</a:t>
            </a:r>
            <a:r>
              <a:rPr lang="en-US" sz="1200" dirty="0"/>
              <a:t> opens sharing options or forwards the media to other contacts.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The </a:t>
            </a:r>
            <a:r>
              <a:rPr lang="en-US" sz="1200" b="1" dirty="0"/>
              <a:t>Menu icon</a:t>
            </a:r>
            <a:r>
              <a:rPr lang="en-US" sz="1200" dirty="0"/>
              <a:t> leads to media-specific actions like download, delete, or report.</a:t>
            </a:r>
          </a:p>
        </p:txBody>
      </p:sp>
    </p:spTree>
    <p:extLst>
      <p:ext uri="{BB962C8B-B14F-4D97-AF65-F5344CB8AC3E}">
        <p14:creationId xmlns:p14="http://schemas.microsoft.com/office/powerpoint/2010/main" val="830119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B5C71B-82F2-E399-DB2C-D3D514559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5409" y="0"/>
            <a:ext cx="3070318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EF7B5F-7243-49F9-F7A4-D7BD125729DA}"/>
              </a:ext>
            </a:extLst>
          </p:cNvPr>
          <p:cNvSpPr txBox="1"/>
          <p:nvPr/>
        </p:nvSpPr>
        <p:spPr>
          <a:xfrm>
            <a:off x="0" y="-64097"/>
            <a:ext cx="9015984" cy="7201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b="1" dirty="0"/>
              <a:t>Module: Messaging</a:t>
            </a:r>
          </a:p>
          <a:p>
            <a:pPr>
              <a:buNone/>
            </a:pPr>
            <a:r>
              <a:rPr lang="en-US" sz="1100" b="1" dirty="0"/>
              <a:t>Screen Title: Media Options – Video Preview</a:t>
            </a:r>
          </a:p>
          <a:p>
            <a:pPr>
              <a:buNone/>
            </a:pPr>
            <a:r>
              <a:rPr lang="en-US" sz="1100" b="1" dirty="0"/>
              <a:t>Purpose: </a:t>
            </a:r>
            <a:r>
              <a:rPr lang="en-US" sz="1100" dirty="0"/>
              <a:t>This screen allows users to preview shared video content within a chat and access file-specific actions such as saving, sharing, or deleting the media directly from the interface.</a:t>
            </a:r>
          </a:p>
          <a:p>
            <a:pPr>
              <a:buNone/>
            </a:pPr>
            <a:r>
              <a:rPr lang="en-US" sz="1100" b="1" dirty="0"/>
              <a:t>Sections</a:t>
            </a:r>
          </a:p>
          <a:p>
            <a:pPr>
              <a:buNone/>
            </a:pPr>
            <a:r>
              <a:rPr lang="en-US" sz="1100" b="1" dirty="0"/>
              <a:t>1. Header Area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Back Arrow (Top Left):</a:t>
            </a:r>
            <a:r>
              <a:rPr lang="en-US" sz="1100" dirty="0"/>
              <a:t> Returns the user to the previous chat or media screen.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User Info: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Displays the sender’s profile image, name (</a:t>
            </a:r>
            <a:r>
              <a:rPr lang="en-US" sz="1100" i="1" dirty="0"/>
              <a:t>Etty Duke</a:t>
            </a:r>
            <a:r>
              <a:rPr lang="en-US" sz="1100" dirty="0"/>
              <a:t>), and message timestamp (</a:t>
            </a:r>
            <a:r>
              <a:rPr lang="en-US" sz="1100" i="1" dirty="0"/>
              <a:t>Jul 7, 10:30 am</a:t>
            </a:r>
            <a:r>
              <a:rPr lang="en-US" sz="1100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Action Icons (Right Side):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Share Arrow:</a:t>
            </a:r>
            <a:r>
              <a:rPr lang="en-US" sz="1100" dirty="0"/>
              <a:t> Quick action to forward or share the media file.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Options Menu (Three Dots):</a:t>
            </a:r>
            <a:r>
              <a:rPr lang="en-US" sz="1100" dirty="0"/>
              <a:t> Opens a dropdown with file management options.</a:t>
            </a:r>
          </a:p>
          <a:p>
            <a:pPr>
              <a:buNone/>
            </a:pPr>
            <a:r>
              <a:rPr lang="en-US" sz="1100" b="1" dirty="0"/>
              <a:t>2. Options Dropdown Menu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Menu Items: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Save:</a:t>
            </a:r>
            <a:r>
              <a:rPr lang="en-US" sz="1100" dirty="0"/>
              <a:t> Downloads and stores the media file locally on the user’s device.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Share:</a:t>
            </a:r>
            <a:r>
              <a:rPr lang="en-US" sz="1100" dirty="0"/>
              <a:t> Opens sharing options (within app or external apps).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Delete:</a:t>
            </a:r>
            <a:r>
              <a:rPr lang="en-US" sz="1100" dirty="0"/>
              <a:t> Removes the media from the conversation or local storage (based on user choice).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Style: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White dropdown with rounded corners and subtle shadow for visibility.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Minimal icon beside each option for quick recognition.</a:t>
            </a:r>
          </a:p>
          <a:p>
            <a:pPr>
              <a:buNone/>
            </a:pPr>
            <a:r>
              <a:rPr lang="en-US" sz="1100" b="1" dirty="0"/>
              <a:t>3. Media Viewer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Video Display Area: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Prominent centered playback frame showing the selected media.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Playback controls include play/pause and skip buttons.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Smooth video border radius consistent with the app’s rounded theme.</a:t>
            </a:r>
          </a:p>
          <a:p>
            <a:pPr>
              <a:buNone/>
            </a:pPr>
            <a:r>
              <a:rPr lang="en-US" sz="1100" b="1" dirty="0"/>
              <a:t>4. Playback Controls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Progress Bar:</a:t>
            </a:r>
            <a:r>
              <a:rPr lang="en-US" sz="1100" dirty="0"/>
              <a:t> Displays playback progress visually with a draggable seek handle.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Time Indicators: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Elapsed Time:</a:t>
            </a:r>
            <a:r>
              <a:rPr lang="en-US" sz="1100" dirty="0"/>
              <a:t> Left-aligned (e.g., </a:t>
            </a:r>
            <a:r>
              <a:rPr lang="en-US" sz="1100" i="1" dirty="0"/>
              <a:t>00:25</a:t>
            </a:r>
            <a:r>
              <a:rPr lang="en-US" sz="1100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Total Duration:</a:t>
            </a:r>
            <a:r>
              <a:rPr lang="en-US" sz="1100" dirty="0"/>
              <a:t> Right-aligned (e.g., </a:t>
            </a:r>
            <a:r>
              <a:rPr lang="en-US" sz="1100" i="1" dirty="0"/>
              <a:t>01:30</a:t>
            </a:r>
            <a:r>
              <a:rPr lang="en-US" sz="1100" dirty="0"/>
              <a:t>).</a:t>
            </a:r>
          </a:p>
          <a:p>
            <a:pPr>
              <a:buNone/>
            </a:pPr>
            <a:r>
              <a:rPr lang="en-US" sz="1100" b="1" dirty="0"/>
              <a:t>Visual Highlights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Consistent Color Scheme:</a:t>
            </a:r>
            <a:r>
              <a:rPr lang="en-US" sz="1100" dirty="0"/>
              <a:t> Blue progress indicator and dark gray control icons.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Dropdown Menu:</a:t>
            </a:r>
            <a:r>
              <a:rPr lang="en-US" sz="1100" dirty="0"/>
              <a:t> Floats above the player, maintaining depth with a soft drop shadow.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Profile Header:</a:t>
            </a:r>
            <a:r>
              <a:rPr lang="en-US" sz="1100" dirty="0"/>
              <a:t> Clean and centered for visual balance.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Modern, minimal layout:</a:t>
            </a:r>
            <a:r>
              <a:rPr lang="en-US" sz="1100" dirty="0"/>
              <a:t> Maintains focus on the media with minimal distractions.</a:t>
            </a:r>
          </a:p>
          <a:p>
            <a:pPr>
              <a:buNone/>
            </a:pPr>
            <a:r>
              <a:rPr lang="en-US" sz="1100" b="1" dirty="0"/>
              <a:t>User Flow Note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From:</a:t>
            </a:r>
            <a:r>
              <a:rPr lang="en-US" sz="1100" dirty="0"/>
              <a:t> Triggered when a user taps the </a:t>
            </a:r>
            <a:r>
              <a:rPr lang="en-US" sz="1100" b="1" dirty="0"/>
              <a:t>Options (⋮)</a:t>
            </a:r>
            <a:r>
              <a:rPr lang="en-US" sz="1100" dirty="0"/>
              <a:t> icon on the </a:t>
            </a:r>
            <a:r>
              <a:rPr lang="en-US" sz="1100" b="1" dirty="0"/>
              <a:t>Media Playback Screen</a:t>
            </a:r>
            <a:r>
              <a:rPr lang="en-US" sz="11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To: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Selecting </a:t>
            </a:r>
            <a:r>
              <a:rPr lang="en-US" sz="1100" b="1" dirty="0"/>
              <a:t>Save</a:t>
            </a:r>
            <a:r>
              <a:rPr lang="en-US" sz="1100" dirty="0"/>
              <a:t> begins media download.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Selecting </a:t>
            </a:r>
            <a:r>
              <a:rPr lang="en-US" sz="1100" b="1" dirty="0"/>
              <a:t>Share</a:t>
            </a:r>
            <a:r>
              <a:rPr lang="en-US" sz="1100" dirty="0"/>
              <a:t> opens the in-app or native sharing interface.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Selecting </a:t>
            </a:r>
            <a:r>
              <a:rPr lang="en-US" sz="1100" b="1" dirty="0"/>
              <a:t>Delete</a:t>
            </a:r>
            <a:r>
              <a:rPr lang="en-US" sz="1100" dirty="0"/>
              <a:t> triggers a confirmation modal before removing the media.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Return Path:</a:t>
            </a:r>
            <a:r>
              <a:rPr lang="en-US" sz="1100" dirty="0"/>
              <a:t> Tapping outside the dropdown or pressing the back arrow closes the menu and returns to playback view.</a:t>
            </a:r>
          </a:p>
        </p:txBody>
      </p:sp>
    </p:spTree>
    <p:extLst>
      <p:ext uri="{BB962C8B-B14F-4D97-AF65-F5344CB8AC3E}">
        <p14:creationId xmlns:p14="http://schemas.microsoft.com/office/powerpoint/2010/main" val="3678602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08BE2B-1B8E-4A14-7FF9-193B211D9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5409" y="0"/>
            <a:ext cx="3070318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753EE6-8FE1-F38F-4A04-85707E952C81}"/>
              </a:ext>
            </a:extLst>
          </p:cNvPr>
          <p:cNvSpPr txBox="1"/>
          <p:nvPr/>
        </p:nvSpPr>
        <p:spPr>
          <a:xfrm>
            <a:off x="-82296" y="0"/>
            <a:ext cx="9034272" cy="6924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/>
              <a:t>Module: Messaging</a:t>
            </a:r>
          </a:p>
          <a:p>
            <a:pPr>
              <a:buNone/>
            </a:pPr>
            <a:r>
              <a:rPr lang="en-US" sz="1200" b="1" dirty="0"/>
              <a:t>Screen Title: Media Playback – Video View</a:t>
            </a:r>
          </a:p>
          <a:p>
            <a:pPr>
              <a:buNone/>
            </a:pPr>
            <a:r>
              <a:rPr lang="en-US" sz="1200" b="1" dirty="0"/>
              <a:t>Purpose: </a:t>
            </a:r>
            <a:r>
              <a:rPr lang="en-US" sz="1200" dirty="0"/>
              <a:t>This screen provides users with a focused media playback interface for viewing a video shared within a chat conversation. It allows smooth playback control and contextual access to sender details.</a:t>
            </a:r>
          </a:p>
          <a:p>
            <a:pPr>
              <a:buNone/>
            </a:pPr>
            <a:r>
              <a:rPr lang="en-US" sz="1200" b="1" dirty="0"/>
              <a:t>Sections</a:t>
            </a:r>
          </a:p>
          <a:p>
            <a:pPr>
              <a:buNone/>
            </a:pPr>
            <a:r>
              <a:rPr lang="en-US" sz="1200" b="1" dirty="0"/>
              <a:t>1. Header Area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Back Arrow (Top Left):</a:t>
            </a:r>
            <a:r>
              <a:rPr lang="en-US" sz="1200" dirty="0"/>
              <a:t> Returns the user to the previous chat screen.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User Info:</a:t>
            </a:r>
            <a:endParaRPr lang="en-US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Displays sender profile picture, name (</a:t>
            </a:r>
            <a:r>
              <a:rPr lang="en-US" sz="1200" i="1" dirty="0"/>
              <a:t>Etty Duke</a:t>
            </a:r>
            <a:r>
              <a:rPr lang="en-US" sz="1200" dirty="0"/>
              <a:t>), and timestamp (</a:t>
            </a:r>
            <a:r>
              <a:rPr lang="en-US" sz="1200" i="1" dirty="0"/>
              <a:t>Jul 7, 10:30 am</a:t>
            </a:r>
            <a:r>
              <a:rPr lang="en-US" sz="1200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Action Icons (Top Right):</a:t>
            </a:r>
            <a:endParaRPr lang="en-US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Share Arrow:</a:t>
            </a:r>
            <a:r>
              <a:rPr lang="en-US" sz="1200" dirty="0"/>
              <a:t> Enables the user to forward or share the video externally.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Options (Three Dots):</a:t>
            </a:r>
            <a:r>
              <a:rPr lang="en-US" sz="1200" dirty="0"/>
              <a:t> Opens additional video actions (Save, Share, Delete) when tapped.</a:t>
            </a:r>
          </a:p>
          <a:p>
            <a:pPr>
              <a:buNone/>
            </a:pPr>
            <a:r>
              <a:rPr lang="en-US" sz="1200" b="1" dirty="0"/>
              <a:t>2. Video Player Area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Video Display:</a:t>
            </a:r>
            <a:endParaRPr lang="en-US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Prominent centered video frame with rounded corners for a modern appearance.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Standard playback controls overlayed at the center (Play/Pause and Skip).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Image placeholder represents the video thumbnail before playback begins.</a:t>
            </a:r>
          </a:p>
          <a:p>
            <a:pPr>
              <a:buNone/>
            </a:pPr>
            <a:r>
              <a:rPr lang="en-US" sz="1200" b="1" dirty="0"/>
              <a:t>3. Playback Controls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Progress Bar:</a:t>
            </a:r>
            <a:endParaRPr lang="en-US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Positioned below the video.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Interactive seek slider to track or adjust playback position.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Time Indicators:</a:t>
            </a:r>
            <a:endParaRPr lang="en-US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Left:</a:t>
            </a:r>
            <a:r>
              <a:rPr lang="en-US" sz="1200" dirty="0"/>
              <a:t> Elapsed playback time (e.g., </a:t>
            </a:r>
            <a:r>
              <a:rPr lang="en-US" sz="1200" i="1" dirty="0"/>
              <a:t>00:25</a:t>
            </a:r>
            <a:r>
              <a:rPr lang="en-US" sz="1200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Right:</a:t>
            </a:r>
            <a:r>
              <a:rPr lang="en-US" sz="1200" dirty="0"/>
              <a:t> Total video duration (e.g., </a:t>
            </a:r>
            <a:r>
              <a:rPr lang="en-US" sz="1200" i="1" dirty="0"/>
              <a:t>01:30</a:t>
            </a:r>
            <a:r>
              <a:rPr lang="en-US" sz="1200" dirty="0"/>
              <a:t>).</a:t>
            </a:r>
          </a:p>
          <a:p>
            <a:pPr>
              <a:buNone/>
            </a:pPr>
            <a:r>
              <a:rPr lang="en-US" sz="1200" b="1" dirty="0"/>
              <a:t>Visual Highlights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Background:</a:t>
            </a:r>
            <a:r>
              <a:rPr lang="en-US" sz="1200" dirty="0"/>
              <a:t> Dimmed overlay behind the media modal to maintain focus on playback.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Rounded Video Frame:</a:t>
            </a:r>
            <a:r>
              <a:rPr lang="en-US" sz="1200" dirty="0"/>
              <a:t> Consistent with app’s smooth, modern visual identity.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Muted Accent Color:</a:t>
            </a:r>
            <a:r>
              <a:rPr lang="en-US" sz="1200" dirty="0"/>
              <a:t> Progress bar uses a brand color for visual continuity.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Clean Layout:</a:t>
            </a:r>
            <a:r>
              <a:rPr lang="en-US" sz="1200" dirty="0"/>
              <a:t> Minimal distractions, with emphasis on the media itself.</a:t>
            </a:r>
          </a:p>
          <a:p>
            <a:pPr>
              <a:buNone/>
            </a:pPr>
            <a:r>
              <a:rPr lang="en-US" sz="1200" b="1" dirty="0"/>
              <a:t>User Flow Note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From:</a:t>
            </a:r>
            <a:r>
              <a:rPr lang="en-US" sz="1200" dirty="0"/>
              <a:t> Triggered when the user taps on a video thumbnail in the </a:t>
            </a:r>
            <a:r>
              <a:rPr lang="en-US" sz="1200" b="1" dirty="0"/>
              <a:t>Chat Screen</a:t>
            </a:r>
            <a:r>
              <a:rPr lang="en-US" sz="1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To:</a:t>
            </a:r>
            <a:endParaRPr lang="en-US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Play Button:</a:t>
            </a:r>
            <a:r>
              <a:rPr lang="en-US" sz="1200" dirty="0"/>
              <a:t> Starts video playback in full preview mode.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Options (⋮):</a:t>
            </a:r>
            <a:r>
              <a:rPr lang="en-US" sz="1200" dirty="0"/>
              <a:t> Opens the media action dropdown (Save, Share, Delete).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Return Path:</a:t>
            </a:r>
            <a:endParaRPr lang="en-US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Tapping the </a:t>
            </a:r>
            <a:r>
              <a:rPr lang="en-US" sz="1200" b="1" dirty="0"/>
              <a:t>Back Arrow</a:t>
            </a:r>
            <a:r>
              <a:rPr lang="en-US" sz="1200" dirty="0"/>
              <a:t> returns to the previous chat conversation view.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Playback state pauses when navigating away.</a:t>
            </a:r>
          </a:p>
        </p:txBody>
      </p:sp>
    </p:spTree>
    <p:extLst>
      <p:ext uri="{BB962C8B-B14F-4D97-AF65-F5344CB8AC3E}">
        <p14:creationId xmlns:p14="http://schemas.microsoft.com/office/powerpoint/2010/main" val="507010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CE4961-0E14-B60C-F7DC-50354834EC57}"/>
              </a:ext>
            </a:extLst>
          </p:cNvPr>
          <p:cNvSpPr txBox="1"/>
          <p:nvPr/>
        </p:nvSpPr>
        <p:spPr>
          <a:xfrm>
            <a:off x="0" y="0"/>
            <a:ext cx="8913876" cy="7032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b="1" dirty="0"/>
              <a:t>Module: Messaging</a:t>
            </a:r>
          </a:p>
          <a:p>
            <a:pPr>
              <a:buNone/>
            </a:pPr>
            <a:r>
              <a:rPr lang="en-US" sz="1100" b="1" dirty="0"/>
              <a:t>Screen Title: Chat Conversation – Media &amp; Audio Messages</a:t>
            </a:r>
          </a:p>
          <a:p>
            <a:pPr>
              <a:buNone/>
            </a:pPr>
            <a:r>
              <a:rPr lang="en-US" sz="1100" b="1" dirty="0"/>
              <a:t>Purpose: </a:t>
            </a:r>
            <a:r>
              <a:rPr lang="en-US" sz="1100" dirty="0"/>
              <a:t>This screen allows users to send and receive text, media, and audio messages in a one-on-one chat. It displays real-time message exchanges with timestamps, delivery status, and interactive media elements.</a:t>
            </a:r>
          </a:p>
          <a:p>
            <a:pPr>
              <a:buNone/>
            </a:pPr>
            <a:r>
              <a:rPr lang="en-US" sz="1100" b="1" dirty="0"/>
              <a:t>Sections</a:t>
            </a:r>
          </a:p>
          <a:p>
            <a:pPr>
              <a:buNone/>
            </a:pPr>
            <a:r>
              <a:rPr lang="en-US" sz="1100" b="1" dirty="0"/>
              <a:t>1. Header Area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User Information: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Profile picture, contact name (</a:t>
            </a:r>
            <a:r>
              <a:rPr lang="en-US" sz="1100" i="1" dirty="0"/>
              <a:t>Etty Duke</a:t>
            </a:r>
            <a:r>
              <a:rPr lang="en-US" sz="1100" dirty="0"/>
              <a:t>), and online status indicator (“Online”).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Action Icons: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Call Icon:</a:t>
            </a:r>
            <a:r>
              <a:rPr lang="en-US" sz="1100" dirty="0"/>
              <a:t> Initiates a voice call.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Video Icon:</a:t>
            </a:r>
            <a:r>
              <a:rPr lang="en-US" sz="1100" dirty="0"/>
              <a:t> Initiates a video call.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More (⋮):</a:t>
            </a:r>
            <a:r>
              <a:rPr lang="en-US" sz="1100" dirty="0"/>
              <a:t> Opens additional chat options (e.g., mute, block, view profile).</a:t>
            </a:r>
          </a:p>
          <a:p>
            <a:pPr>
              <a:buNone/>
            </a:pPr>
            <a:r>
              <a:rPr lang="en-US" sz="1100" b="1" dirty="0"/>
              <a:t>2. Chat Thread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Message Bubbles: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Outgoing messages: Dark background with white text (right-aligned).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Incoming messages: Light background with dark text (left-aligned).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Each bubble includes a timestamp and read receipt (double checkmark).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Media Previews: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Attached photos and videos appear as small thumbnails within the conversation.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Video previews display a play icon overlay for quick playback.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Audio Message: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Features waveform visualization with playback time (e.g., </a:t>
            </a:r>
            <a:r>
              <a:rPr lang="en-US" sz="1100" i="1" dirty="0"/>
              <a:t>02:33</a:t>
            </a:r>
            <a:r>
              <a:rPr lang="en-US" sz="1100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Play/Pause button allows users to listen directly in-chat.</a:t>
            </a:r>
          </a:p>
          <a:p>
            <a:pPr>
              <a:buNone/>
            </a:pPr>
            <a:r>
              <a:rPr lang="en-US" sz="1100" b="1" dirty="0"/>
              <a:t>3. Message Input Bar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Attachment Button (+):</a:t>
            </a:r>
            <a:r>
              <a:rPr lang="en-US" sz="1100" dirty="0"/>
              <a:t> Expands to show options (Camera, Document, Photos &amp; Videos, Location, Contact).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Text Field:</a:t>
            </a:r>
            <a:r>
              <a:rPr lang="en-US" sz="1100" dirty="0"/>
              <a:t> Placeholder “Type a message” for composing new messages.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Emoji Icon:</a:t>
            </a:r>
            <a:r>
              <a:rPr lang="en-US" sz="1100" dirty="0"/>
              <a:t> Opens emoji selector.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Send Icon (Microphone or Arrow):</a:t>
            </a:r>
            <a:r>
              <a:rPr lang="en-US" sz="1100" dirty="0"/>
              <a:t> Sends the typed message or records a voice note.</a:t>
            </a:r>
          </a:p>
          <a:p>
            <a:pPr>
              <a:buNone/>
            </a:pPr>
            <a:r>
              <a:rPr lang="en-US" sz="1100" b="1" dirty="0"/>
              <a:t>Visual Highlights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Rounded Chat Bubbles:</a:t>
            </a:r>
            <a:r>
              <a:rPr lang="en-US" sz="1100" dirty="0"/>
              <a:t> Maintain a friendly and modern aesthetic.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Consistent Color Codes:</a:t>
            </a:r>
            <a:r>
              <a:rPr lang="en-US" sz="1100" dirty="0"/>
              <a:t> Outgoing and incoming messages use distinct colors for quick identification.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Timestamp and Read Status:</a:t>
            </a:r>
            <a:r>
              <a:rPr lang="en-US" sz="1100" dirty="0"/>
              <a:t> Improve clarity of communication flow.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Waveform Audio Element:</a:t>
            </a:r>
            <a:r>
              <a:rPr lang="en-US" sz="1100" dirty="0"/>
              <a:t> Provides a sleek, dynamic visual cue for audio messages.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Subtle Shadow and Rounded Corners:</a:t>
            </a:r>
            <a:r>
              <a:rPr lang="en-US" sz="1100" dirty="0"/>
              <a:t> Align with the app’s soft, minimal design theme.</a:t>
            </a:r>
          </a:p>
          <a:p>
            <a:pPr>
              <a:buNone/>
            </a:pPr>
            <a:r>
              <a:rPr lang="en-US" sz="1100" b="1" dirty="0"/>
              <a:t>User Flow Note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From:</a:t>
            </a:r>
            <a:r>
              <a:rPr lang="en-US" sz="1100" dirty="0"/>
              <a:t> Accessed when the user taps a conversation in the </a:t>
            </a:r>
            <a:r>
              <a:rPr lang="en-US" sz="1100" b="1" dirty="0"/>
              <a:t>Messages List</a:t>
            </a:r>
            <a:r>
              <a:rPr lang="en-US" sz="1100" dirty="0"/>
              <a:t> screen.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To: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Video Thumbnail:</a:t>
            </a:r>
            <a:r>
              <a:rPr lang="en-US" sz="1100" dirty="0"/>
              <a:t> Opens </a:t>
            </a:r>
            <a:r>
              <a:rPr lang="en-US" sz="1100" b="1" dirty="0"/>
              <a:t>Media Playback (Video View)</a:t>
            </a:r>
            <a:r>
              <a:rPr lang="en-US" sz="1100" dirty="0"/>
              <a:t> screen.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Audio Waveform:</a:t>
            </a:r>
            <a:r>
              <a:rPr lang="en-US" sz="1100" dirty="0"/>
              <a:t> Plays within the same chat or expands into </a:t>
            </a:r>
            <a:r>
              <a:rPr lang="en-US" sz="1100" b="1" dirty="0"/>
              <a:t>Audio Playback</a:t>
            </a:r>
            <a:r>
              <a:rPr lang="en-US" sz="1100" dirty="0"/>
              <a:t> state.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Attachment (+):</a:t>
            </a:r>
            <a:r>
              <a:rPr lang="en-US" sz="1100" dirty="0"/>
              <a:t> Opens file selection menu for adding new media or files.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Return Path:</a:t>
            </a:r>
            <a:r>
              <a:rPr lang="en-US" sz="1100" dirty="0"/>
              <a:t> User navigates back to </a:t>
            </a:r>
            <a:r>
              <a:rPr lang="en-US" sz="1100" b="1" dirty="0"/>
              <a:t>Messages List</a:t>
            </a:r>
            <a:r>
              <a:rPr lang="en-US" sz="1100" dirty="0"/>
              <a:t> via the back arrow in the header.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3832E2-3CCF-D6A2-CAE2-7E82261DD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4553" y="0"/>
            <a:ext cx="30703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319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B96AF2-C0DC-E329-0FBC-E00EB9D8F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4553" y="0"/>
            <a:ext cx="3070318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B3C012-5264-9E26-85AD-9FAD26B13E7F}"/>
              </a:ext>
            </a:extLst>
          </p:cNvPr>
          <p:cNvSpPr txBox="1"/>
          <p:nvPr/>
        </p:nvSpPr>
        <p:spPr>
          <a:xfrm>
            <a:off x="7129" y="0"/>
            <a:ext cx="8979408" cy="7540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b="1" dirty="0"/>
              <a:t>Module: Messaging</a:t>
            </a:r>
          </a:p>
          <a:p>
            <a:pPr>
              <a:buNone/>
            </a:pPr>
            <a:r>
              <a:rPr lang="en-US" sz="1100" b="1" dirty="0"/>
              <a:t>Screen Title: Chat Conversation – Video Message View</a:t>
            </a:r>
          </a:p>
          <a:p>
            <a:pPr>
              <a:buNone/>
            </a:pPr>
            <a:r>
              <a:rPr lang="en-US" sz="1100" b="1" dirty="0"/>
              <a:t>Purpose: </a:t>
            </a:r>
            <a:r>
              <a:rPr lang="en-US" sz="1100" dirty="0"/>
              <a:t>This screen enables users to view a received video message directly within the chat interface. It presents a seamless multimedia experience, combining text, video, and audio messages within an ongoing conversation.</a:t>
            </a:r>
          </a:p>
          <a:p>
            <a:pPr>
              <a:buNone/>
            </a:pPr>
            <a:r>
              <a:rPr lang="en-US" sz="1100" b="1" dirty="0"/>
              <a:t>Sections</a:t>
            </a:r>
          </a:p>
          <a:p>
            <a:pPr>
              <a:buNone/>
            </a:pPr>
            <a:r>
              <a:rPr lang="en-US" sz="1100" b="1" dirty="0"/>
              <a:t>1. Header Area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User Info: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Displays profile picture, contact name (</a:t>
            </a:r>
            <a:r>
              <a:rPr lang="en-US" sz="1100" i="1" dirty="0"/>
              <a:t>Etty Duke</a:t>
            </a:r>
            <a:r>
              <a:rPr lang="en-US" sz="1100" dirty="0"/>
              <a:t>), and online status (“Online”).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Action Icons: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Call Icon:</a:t>
            </a:r>
            <a:r>
              <a:rPr lang="en-US" sz="1100" dirty="0"/>
              <a:t> Initiates a voice call.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Video Icon:</a:t>
            </a:r>
            <a:r>
              <a:rPr lang="en-US" sz="1100" dirty="0"/>
              <a:t> Starts a video call.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More (⋮):</a:t>
            </a:r>
            <a:r>
              <a:rPr lang="en-US" sz="1100" dirty="0"/>
              <a:t> Opens additional chat options (mute, delete, or view profile).</a:t>
            </a:r>
          </a:p>
          <a:p>
            <a:pPr>
              <a:buNone/>
            </a:pPr>
            <a:r>
              <a:rPr lang="en-US" sz="1100" b="1" dirty="0"/>
              <a:t>2. Chat Thread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Message Bubbles: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Outgoing (user) messages appear in </a:t>
            </a:r>
            <a:r>
              <a:rPr lang="en-US" sz="1100" b="1" dirty="0"/>
              <a:t>dark navy bubbles</a:t>
            </a:r>
            <a:r>
              <a:rPr lang="en-US" sz="1100" dirty="0"/>
              <a:t> aligned to the right.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Incoming (contact) messages appear in </a:t>
            </a:r>
            <a:r>
              <a:rPr lang="en-US" sz="1100" b="1" dirty="0"/>
              <a:t>light-colored bubbles</a:t>
            </a:r>
            <a:r>
              <a:rPr lang="en-US" sz="1100" dirty="0"/>
              <a:t> aligned to the left.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Both include timestamps and double-checkmarks for delivery/read confirmation.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Embedded Video Message: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A large </a:t>
            </a:r>
            <a:r>
              <a:rPr lang="en-US" sz="1100" b="1" dirty="0"/>
              <a:t>video thumbnail</a:t>
            </a:r>
            <a:r>
              <a:rPr lang="en-US" sz="1100" dirty="0"/>
              <a:t> with a centered play button and a faint “X” icon overlay for canceling playback.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The video preview retains the room’s visual context with consistent padding and rounded corners.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Timestamp visible below the media (e.g., </a:t>
            </a:r>
            <a:r>
              <a:rPr lang="en-US" sz="1100" i="1" dirty="0"/>
              <a:t>07.38 PM</a:t>
            </a:r>
            <a:r>
              <a:rPr lang="en-US" sz="1100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Audio Message: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Displayed beneath the video message.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Features a </a:t>
            </a:r>
            <a:r>
              <a:rPr lang="en-US" sz="1100" b="1" dirty="0"/>
              <a:t>waveform graphic</a:t>
            </a:r>
            <a:r>
              <a:rPr lang="en-US" sz="1100" dirty="0"/>
              <a:t>, playback control button (Play/Pause), and duration indicator (</a:t>
            </a:r>
            <a:r>
              <a:rPr lang="en-US" sz="1100" i="1" dirty="0"/>
              <a:t>02:33</a:t>
            </a:r>
            <a:r>
              <a:rPr lang="en-US" sz="1100" dirty="0"/>
              <a:t>).</a:t>
            </a:r>
          </a:p>
          <a:p>
            <a:pPr>
              <a:buNone/>
            </a:pPr>
            <a:r>
              <a:rPr lang="en-US" sz="1100" b="1" dirty="0"/>
              <a:t>3. Message Input Bar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Attachment Icon (+):</a:t>
            </a:r>
            <a:r>
              <a:rPr lang="en-US" sz="1100" dirty="0"/>
              <a:t> Opens file type options (Camera, Document, Photos &amp; Videos, Location, Contact).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Text Field:</a:t>
            </a:r>
            <a:r>
              <a:rPr lang="en-US" sz="1100" dirty="0"/>
              <a:t> Placeholder “Type a message” for typing new messages.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Emoji Icon:</a:t>
            </a:r>
            <a:r>
              <a:rPr lang="en-US" sz="1100" dirty="0"/>
              <a:t> Opens emoji selection.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Send/Microphone Icon:</a:t>
            </a:r>
            <a:r>
              <a:rPr lang="en-US" sz="1100" dirty="0"/>
              <a:t> Sends messages or records audio, depending on input context.</a:t>
            </a:r>
          </a:p>
          <a:p>
            <a:pPr>
              <a:buNone/>
            </a:pPr>
            <a:r>
              <a:rPr lang="en-US" sz="1100" b="1" dirty="0"/>
              <a:t>Visual Highlights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Active Multimedia Bubble:</a:t>
            </a:r>
            <a:r>
              <a:rPr lang="en-US" sz="1100" dirty="0"/>
              <a:t> The video message takes focus with clear, centered controls.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Waveform Animation:</a:t>
            </a:r>
            <a:r>
              <a:rPr lang="en-US" sz="1100" dirty="0"/>
              <a:t> Adds an interactive visual cue for audio playback.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Soft Shadows &amp; Rounded Corners:</a:t>
            </a:r>
            <a:r>
              <a:rPr lang="en-US" sz="1100" dirty="0"/>
              <a:t> Maintain visual consistency across chat media.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Timestamp Clarity:</a:t>
            </a:r>
            <a:r>
              <a:rPr lang="en-US" sz="1100" dirty="0"/>
              <a:t> Each message shows when it was sent or received for traceability.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Subtle Background Layer:</a:t>
            </a:r>
            <a:r>
              <a:rPr lang="en-US" sz="1100" dirty="0"/>
              <a:t> The upper “Lessons” header remains slightly visible behind the modal chat card.</a:t>
            </a:r>
          </a:p>
          <a:p>
            <a:pPr>
              <a:buNone/>
            </a:pPr>
            <a:r>
              <a:rPr lang="en-US" sz="1100" b="1" dirty="0"/>
              <a:t>User Flow Note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From:</a:t>
            </a:r>
            <a:r>
              <a:rPr lang="en-US" sz="1100" dirty="0"/>
              <a:t> Accessed by opening a chat thread from the </a:t>
            </a:r>
            <a:r>
              <a:rPr lang="en-US" sz="1100" b="1" dirty="0"/>
              <a:t>Messages List</a:t>
            </a:r>
            <a:r>
              <a:rPr lang="en-US" sz="1100" dirty="0"/>
              <a:t> screen.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To: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Tap Play Button:</a:t>
            </a:r>
            <a:r>
              <a:rPr lang="en-US" sz="1100" dirty="0"/>
              <a:t> Opens </a:t>
            </a:r>
            <a:r>
              <a:rPr lang="en-US" sz="1100" b="1" dirty="0"/>
              <a:t>Video Playback Screen (Expanded View)</a:t>
            </a:r>
            <a:r>
              <a:rPr lang="en-US" sz="1100" dirty="0"/>
              <a:t> for full video viewing.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Tap Audio Play Button:</a:t>
            </a:r>
            <a:r>
              <a:rPr lang="en-US" sz="1100" dirty="0"/>
              <a:t> Plays the voice message inline.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Tap Attachment (+):</a:t>
            </a:r>
            <a:r>
              <a:rPr lang="en-US" sz="1100" dirty="0"/>
              <a:t> Expands media and file sharing options.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Return Path: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Back arrow in header returns user to </a:t>
            </a:r>
            <a:r>
              <a:rPr lang="en-US" sz="1100" b="1" dirty="0"/>
              <a:t>Messages List</a:t>
            </a:r>
            <a:r>
              <a:rPr lang="en-US" sz="11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Video or audio playback can be stopped or minimized within this same screen.</a:t>
            </a:r>
          </a:p>
        </p:txBody>
      </p:sp>
    </p:spTree>
    <p:extLst>
      <p:ext uri="{BB962C8B-B14F-4D97-AF65-F5344CB8AC3E}">
        <p14:creationId xmlns:p14="http://schemas.microsoft.com/office/powerpoint/2010/main" val="3606758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55CB6E-5BCA-411C-51B3-613741C31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417" y="0"/>
            <a:ext cx="3070318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23958B-B67B-4AB7-615F-F2B479B58DB7}"/>
              </a:ext>
            </a:extLst>
          </p:cNvPr>
          <p:cNvSpPr txBox="1"/>
          <p:nvPr/>
        </p:nvSpPr>
        <p:spPr>
          <a:xfrm>
            <a:off x="0" y="0"/>
            <a:ext cx="9098280" cy="7201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b="1" dirty="0"/>
              <a:t>Module: Messaging</a:t>
            </a:r>
          </a:p>
          <a:p>
            <a:pPr>
              <a:buNone/>
            </a:pPr>
            <a:r>
              <a:rPr lang="en-US" sz="1100" b="1" dirty="0"/>
              <a:t>Screen Title: Chat Conversation – Voice Note Recording</a:t>
            </a:r>
          </a:p>
          <a:p>
            <a:pPr>
              <a:buNone/>
            </a:pPr>
            <a:r>
              <a:rPr lang="en-US" sz="1100" b="1" dirty="0"/>
              <a:t>Purpose: </a:t>
            </a:r>
            <a:r>
              <a:rPr lang="en-US" sz="1100" dirty="0"/>
              <a:t>This screen allows users to </a:t>
            </a:r>
            <a:r>
              <a:rPr lang="en-US" sz="1100" b="1" dirty="0"/>
              <a:t>record and send a voice message</a:t>
            </a:r>
            <a:r>
              <a:rPr lang="en-US" sz="1100" dirty="0"/>
              <a:t> within a chat. It provides simple, clear controls for capturing audio and either sending, canceling, or discarding the recording before it’s sent.</a:t>
            </a:r>
          </a:p>
          <a:p>
            <a:pPr>
              <a:buNone/>
            </a:pPr>
            <a:r>
              <a:rPr lang="en-US" sz="1100" b="1" dirty="0"/>
              <a:t>Sections</a:t>
            </a:r>
          </a:p>
          <a:p>
            <a:pPr>
              <a:buNone/>
            </a:pPr>
            <a:r>
              <a:rPr lang="en-US" sz="1100" b="1" dirty="0"/>
              <a:t>1. Header Area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User Info: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Displays </a:t>
            </a:r>
            <a:r>
              <a:rPr lang="en-US" sz="1100" b="1" dirty="0"/>
              <a:t>profile picture</a:t>
            </a:r>
            <a:r>
              <a:rPr lang="en-US" sz="1100" dirty="0"/>
              <a:t>, </a:t>
            </a:r>
            <a:r>
              <a:rPr lang="en-US" sz="1100" b="1" dirty="0"/>
              <a:t>contact name (Etty Duke)</a:t>
            </a:r>
            <a:r>
              <a:rPr lang="en-US" sz="1100" dirty="0"/>
              <a:t>, and </a:t>
            </a:r>
            <a:r>
              <a:rPr lang="en-US" sz="1100" b="1" dirty="0"/>
              <a:t>online status</a:t>
            </a:r>
            <a:r>
              <a:rPr lang="en-US" sz="1100" dirty="0"/>
              <a:t> (“Online”).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Action Icons: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Call icon:</a:t>
            </a:r>
            <a:r>
              <a:rPr lang="en-US" sz="1100" dirty="0"/>
              <a:t> Initiates a voice call.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Video icon:</a:t>
            </a:r>
            <a:r>
              <a:rPr lang="en-US" sz="1100" dirty="0"/>
              <a:t> Starts a video call.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More (⋮):</a:t>
            </a:r>
            <a:r>
              <a:rPr lang="en-US" sz="1100" dirty="0"/>
              <a:t> Opens additional chat options.</a:t>
            </a:r>
          </a:p>
          <a:p>
            <a:pPr>
              <a:buNone/>
            </a:pPr>
            <a:r>
              <a:rPr lang="en-US" sz="1100" b="1" dirty="0"/>
              <a:t>2. Chat Thread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Ongoing conversation shown above the recording controls for context.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Includes </a:t>
            </a:r>
            <a:r>
              <a:rPr lang="en-US" sz="1100" b="1" dirty="0"/>
              <a:t>sent</a:t>
            </a:r>
            <a:r>
              <a:rPr lang="en-US" sz="1100" dirty="0"/>
              <a:t> and </a:t>
            </a:r>
            <a:r>
              <a:rPr lang="en-US" sz="1100" b="1" dirty="0"/>
              <a:t>received message bubbles</a:t>
            </a:r>
            <a:r>
              <a:rPr lang="en-US" sz="1100" dirty="0"/>
              <a:t> with timestamps and double-check marks.</a:t>
            </a:r>
          </a:p>
          <a:p>
            <a:pPr>
              <a:buNone/>
            </a:pPr>
            <a:r>
              <a:rPr lang="en-US" sz="1100" b="1" dirty="0"/>
              <a:t>3. Voice Note Recording Panel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Label:</a:t>
            </a:r>
            <a:r>
              <a:rPr lang="en-US" sz="1100" dirty="0"/>
              <a:t> “Voice Note” centered at the top of the panel.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Waveform Animation: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Visual feedback during recording, showing real-time audio levels.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Timer Display: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Indicates the </a:t>
            </a:r>
            <a:r>
              <a:rPr lang="en-US" sz="1100" b="1" dirty="0"/>
              <a:t>recording duration</a:t>
            </a:r>
            <a:r>
              <a:rPr lang="en-US" sz="1100" dirty="0"/>
              <a:t> (e.g., “01:38”).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Action Buttons (bottom row):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Delete (trash icon):</a:t>
            </a:r>
            <a:r>
              <a:rPr lang="en-US" sz="1100" dirty="0"/>
              <a:t> Cancels and deletes the current recording.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Pause/Resume (two-line icon):</a:t>
            </a:r>
            <a:r>
              <a:rPr lang="en-US" sz="1100" dirty="0"/>
              <a:t> Pauses or resumes recording.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Send (paper plane icon):</a:t>
            </a:r>
            <a:r>
              <a:rPr lang="en-US" sz="1100" dirty="0"/>
              <a:t> Sends the recorded voice note once done.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The control buttons are color-coded: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Delete:</a:t>
            </a:r>
            <a:r>
              <a:rPr lang="en-US" sz="1100" dirty="0"/>
              <a:t> Light gray background.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Pause:</a:t>
            </a:r>
            <a:r>
              <a:rPr lang="en-US" sz="1100" dirty="0"/>
              <a:t> Dark navy background.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Send:</a:t>
            </a:r>
            <a:r>
              <a:rPr lang="en-US" sz="1100" dirty="0"/>
              <a:t> Bright green background for clear emphasis.</a:t>
            </a:r>
          </a:p>
          <a:p>
            <a:pPr>
              <a:buNone/>
            </a:pPr>
            <a:r>
              <a:rPr lang="en-US" sz="1100" b="1" dirty="0"/>
              <a:t>Visual Highlights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Bottom Sheet Layout:</a:t>
            </a:r>
            <a:r>
              <a:rPr lang="en-US" sz="1100" dirty="0"/>
              <a:t> The recording controls slide up over the chat interface, keeping the conversation visible.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Rounded Top Corners:</a:t>
            </a:r>
            <a:r>
              <a:rPr lang="en-US" sz="1100" dirty="0"/>
              <a:t> Matches the consistent card style across messaging screens.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Waveform Motion:</a:t>
            </a:r>
            <a:r>
              <a:rPr lang="en-US" sz="1100" dirty="0"/>
              <a:t> Reinforces that recording is active and responsive to sound input.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Clean, Minimal Layout:</a:t>
            </a:r>
            <a:r>
              <a:rPr lang="en-US" sz="1100" dirty="0"/>
              <a:t> Only essential controls appear to minimize distraction during recording.</a:t>
            </a:r>
          </a:p>
          <a:p>
            <a:pPr>
              <a:buNone/>
            </a:pPr>
            <a:r>
              <a:rPr lang="en-US" sz="1100" b="1" dirty="0"/>
              <a:t>User Flow Note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From:</a:t>
            </a:r>
            <a:r>
              <a:rPr lang="en-US" sz="1100" dirty="0"/>
              <a:t> Accessed by long-pressing or tapping the </a:t>
            </a:r>
            <a:r>
              <a:rPr lang="en-US" sz="1100" b="1" dirty="0"/>
              <a:t>microphone icon</a:t>
            </a:r>
            <a:r>
              <a:rPr lang="en-US" sz="1100" dirty="0"/>
              <a:t> in the chat input bar.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To: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Tap “Send”:</a:t>
            </a:r>
            <a:r>
              <a:rPr lang="en-US" sz="1100" dirty="0"/>
              <a:t> Uploads the voice note into the chat thread and returns to the conversation view.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Tap “Pause”:</a:t>
            </a:r>
            <a:r>
              <a:rPr lang="en-US" sz="1100" dirty="0"/>
              <a:t> Pauses recording; tapping again resumes it.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Tap “Delete”:</a:t>
            </a:r>
            <a:r>
              <a:rPr lang="en-US" sz="1100" dirty="0"/>
              <a:t> Cancels the recording and returns to the standard message input layout.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Return Path:</a:t>
            </a:r>
            <a:r>
              <a:rPr lang="en-US" sz="1100" dirty="0"/>
              <a:t> Automatically returns to the chat screen after sending or deleting a voice note.</a:t>
            </a:r>
          </a:p>
        </p:txBody>
      </p:sp>
    </p:spTree>
    <p:extLst>
      <p:ext uri="{BB962C8B-B14F-4D97-AF65-F5344CB8AC3E}">
        <p14:creationId xmlns:p14="http://schemas.microsoft.com/office/powerpoint/2010/main" val="3260867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82E4DB-81AC-E6C8-A3C7-99FFA2A10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5409" y="0"/>
            <a:ext cx="3070318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FCF729-2428-0E6B-F26F-7F5B28E07BD5}"/>
              </a:ext>
            </a:extLst>
          </p:cNvPr>
          <p:cNvSpPr txBox="1"/>
          <p:nvPr/>
        </p:nvSpPr>
        <p:spPr>
          <a:xfrm>
            <a:off x="-64008" y="0"/>
            <a:ext cx="9015983" cy="7540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b="1" dirty="0"/>
              <a:t>Module: Messaging</a:t>
            </a:r>
          </a:p>
          <a:p>
            <a:pPr>
              <a:buNone/>
            </a:pPr>
            <a:r>
              <a:rPr lang="en-US" sz="1100" b="1" dirty="0"/>
              <a:t>Screen Title: Chat Conversation – Voice Note Active</a:t>
            </a:r>
          </a:p>
          <a:p>
            <a:pPr>
              <a:buNone/>
            </a:pPr>
            <a:r>
              <a:rPr lang="en-US" sz="1100" b="1" dirty="0"/>
              <a:t>Purpose: </a:t>
            </a:r>
            <a:r>
              <a:rPr lang="en-US" sz="1100" dirty="0"/>
              <a:t>This screen allows the user to </a:t>
            </a:r>
            <a:r>
              <a:rPr lang="en-US" sz="1100" b="1" dirty="0"/>
              <a:t>record and manage an ongoing voice note</a:t>
            </a:r>
            <a:r>
              <a:rPr lang="en-US" sz="1100" dirty="0"/>
              <a:t> within a one-on-one chat. It provides real-time feedback, simple control buttons, and seamless integration within the chat interface.</a:t>
            </a:r>
          </a:p>
          <a:p>
            <a:pPr>
              <a:buNone/>
            </a:pPr>
            <a:r>
              <a:rPr lang="en-US" sz="1100" b="1" dirty="0"/>
              <a:t>Sections</a:t>
            </a:r>
          </a:p>
          <a:p>
            <a:pPr>
              <a:buNone/>
            </a:pPr>
            <a:r>
              <a:rPr lang="en-US" sz="1100" b="1" dirty="0"/>
              <a:t>1. Header Area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Profile Display: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Shows </a:t>
            </a:r>
            <a:r>
              <a:rPr lang="en-US" sz="1100" b="1" dirty="0"/>
              <a:t>profile photo</a:t>
            </a:r>
            <a:r>
              <a:rPr lang="en-US" sz="1100" dirty="0"/>
              <a:t>, </a:t>
            </a:r>
            <a:r>
              <a:rPr lang="en-US" sz="1100" b="1" dirty="0"/>
              <a:t>contact name (Etty Duke)</a:t>
            </a:r>
            <a:r>
              <a:rPr lang="en-US" sz="1100" dirty="0"/>
              <a:t>, and </a:t>
            </a:r>
            <a:r>
              <a:rPr lang="en-US" sz="1100" b="1" dirty="0"/>
              <a:t>status (“Online”)</a:t>
            </a:r>
            <a:r>
              <a:rPr lang="en-US" sz="11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Action Icons: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Call icon:</a:t>
            </a:r>
            <a:r>
              <a:rPr lang="en-US" sz="1100" dirty="0"/>
              <a:t> Initiates a voice call.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Video call icon:</a:t>
            </a:r>
            <a:r>
              <a:rPr lang="en-US" sz="1100" dirty="0"/>
              <a:t> Starts a video chat.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More (⋮):</a:t>
            </a:r>
            <a:r>
              <a:rPr lang="en-US" sz="1100" dirty="0"/>
              <a:t> Opens additional conversation options.</a:t>
            </a:r>
          </a:p>
          <a:p>
            <a:pPr>
              <a:buNone/>
            </a:pPr>
            <a:r>
              <a:rPr lang="en-US" sz="1100" b="1" dirty="0"/>
              <a:t>2. Chat Conversation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Displays recent </a:t>
            </a:r>
            <a:r>
              <a:rPr lang="en-US" sz="1100" b="1" dirty="0"/>
              <a:t>message bubbles</a:t>
            </a:r>
            <a:r>
              <a:rPr lang="en-US" sz="1100" dirty="0"/>
              <a:t> for both user and contact.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Each message shows </a:t>
            </a:r>
            <a:r>
              <a:rPr lang="en-US" sz="1100" b="1" dirty="0"/>
              <a:t>timestamp</a:t>
            </a:r>
            <a:r>
              <a:rPr lang="en-US" sz="1100" dirty="0"/>
              <a:t> (07:38 PM) and </a:t>
            </a:r>
            <a:r>
              <a:rPr lang="en-US" sz="1100" b="1" dirty="0"/>
              <a:t>read receipts</a:t>
            </a:r>
            <a:r>
              <a:rPr lang="en-US" sz="1100" dirty="0"/>
              <a:t> (double check mark).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Active chat background uses a </a:t>
            </a:r>
            <a:r>
              <a:rPr lang="en-US" sz="1100" b="1" dirty="0"/>
              <a:t>white base</a:t>
            </a:r>
            <a:r>
              <a:rPr lang="en-US" sz="1100" dirty="0"/>
              <a:t>, while sent and received messages have </a:t>
            </a:r>
            <a:r>
              <a:rPr lang="en-US" sz="1100" b="1" dirty="0"/>
              <a:t>dark navy</a:t>
            </a:r>
            <a:r>
              <a:rPr lang="en-US" sz="1100" dirty="0"/>
              <a:t> and </a:t>
            </a:r>
            <a:r>
              <a:rPr lang="en-US" sz="1100" b="1" dirty="0"/>
              <a:t>light gray</a:t>
            </a:r>
            <a:r>
              <a:rPr lang="en-US" sz="1100" dirty="0"/>
              <a:t> backgrounds respectively for clear contrast.</a:t>
            </a:r>
          </a:p>
          <a:p>
            <a:pPr>
              <a:buNone/>
            </a:pPr>
            <a:r>
              <a:rPr lang="en-US" sz="1100" b="1" dirty="0"/>
              <a:t>3. Voice Note Recording Section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Label:</a:t>
            </a:r>
            <a:r>
              <a:rPr lang="en-US" sz="1100" dirty="0"/>
              <a:t> “Voice Note” positioned above the recording bar.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Waveform Visualization: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Dynamic green waveform showing live audio input during recording.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Playback/Recording Bar: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Left-aligned </a:t>
            </a:r>
            <a:r>
              <a:rPr lang="en-US" sz="1100" b="1" dirty="0"/>
              <a:t>play/pause icon</a:t>
            </a:r>
            <a:r>
              <a:rPr lang="en-US" sz="1100" dirty="0"/>
              <a:t> to control recording or playback.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Timer Display: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Shows </a:t>
            </a:r>
            <a:r>
              <a:rPr lang="en-US" sz="1100" b="1" dirty="0"/>
              <a:t>elapsed recording time (01:38)</a:t>
            </a:r>
            <a:r>
              <a:rPr lang="en-US" sz="1100" dirty="0"/>
              <a:t> below the waveform.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Action Buttons (bottom row):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Delete (Trash icon, red):</a:t>
            </a:r>
            <a:r>
              <a:rPr lang="en-US" sz="1100" dirty="0"/>
              <a:t> Cancels and discards the recording.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Microphone (Red circular icon):</a:t>
            </a:r>
            <a:r>
              <a:rPr lang="en-US" sz="1100" dirty="0"/>
              <a:t> Indicates that recording is currently active.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Send (Green circular icon):</a:t>
            </a:r>
            <a:r>
              <a:rPr lang="en-US" sz="1100" dirty="0"/>
              <a:t> Sends the completed voice note into the chat.</a:t>
            </a:r>
          </a:p>
          <a:p>
            <a:pPr>
              <a:buNone/>
            </a:pPr>
            <a:r>
              <a:rPr lang="en-US" sz="1100" b="1" dirty="0"/>
              <a:t>Visual Highlights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Smooth Bottom Sheet Transition:</a:t>
            </a:r>
            <a:r>
              <a:rPr lang="en-US" sz="1100" dirty="0"/>
              <a:t> Recording interface slides up without leaving the chat context.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Rounded Corners &amp; Shadow:</a:t>
            </a:r>
            <a:r>
              <a:rPr lang="en-US" sz="1100" dirty="0"/>
              <a:t> Maintains the consistent, modern UI across the messaging module.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Color Coding for Quick Actions: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Red = Cancel/Delete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Green = Send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Neutral gray = Background emphasis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Real-time Waveform Animation:</a:t>
            </a:r>
            <a:r>
              <a:rPr lang="en-US" sz="1100" dirty="0"/>
              <a:t> Gives visual feedback on voice input levels during recording.</a:t>
            </a:r>
          </a:p>
          <a:p>
            <a:pPr>
              <a:buNone/>
            </a:pPr>
            <a:r>
              <a:rPr lang="en-US" sz="1100" b="1" dirty="0"/>
              <a:t>User Flow Note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From:</a:t>
            </a:r>
            <a:r>
              <a:rPr lang="en-US" sz="1100" dirty="0"/>
              <a:t> Triggered when user holds or taps the </a:t>
            </a:r>
            <a:r>
              <a:rPr lang="en-US" sz="1100" b="1" dirty="0"/>
              <a:t>microphone icon</a:t>
            </a:r>
            <a:r>
              <a:rPr lang="en-US" sz="1100" dirty="0"/>
              <a:t> in the chat input bar.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User Actions: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Press Trash:</a:t>
            </a:r>
            <a:r>
              <a:rPr lang="en-US" sz="1100" dirty="0"/>
              <a:t> Deletes the current recording.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Press Mic:</a:t>
            </a:r>
            <a:r>
              <a:rPr lang="en-US" sz="1100" dirty="0"/>
              <a:t> Pauses or resumes recording.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Press Send:</a:t>
            </a:r>
            <a:r>
              <a:rPr lang="en-US" sz="1100" dirty="0"/>
              <a:t> Sends the voice note and returns to normal chat input view.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To:</a:t>
            </a:r>
            <a:r>
              <a:rPr lang="en-US" sz="1100" dirty="0"/>
              <a:t> Returns to the conversation screen showing the </a:t>
            </a:r>
            <a:r>
              <a:rPr lang="en-US" sz="1100" b="1" dirty="0"/>
              <a:t>sent audio message</a:t>
            </a:r>
            <a:r>
              <a:rPr lang="en-US" sz="1100" dirty="0"/>
              <a:t> with playback controls.</a:t>
            </a:r>
          </a:p>
        </p:txBody>
      </p:sp>
    </p:spTree>
    <p:extLst>
      <p:ext uri="{BB962C8B-B14F-4D97-AF65-F5344CB8AC3E}">
        <p14:creationId xmlns:p14="http://schemas.microsoft.com/office/powerpoint/2010/main" val="350713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0A8ABA-A587-28C7-F806-47307F5D4AE3}"/>
              </a:ext>
            </a:extLst>
          </p:cNvPr>
          <p:cNvSpPr txBox="1"/>
          <p:nvPr/>
        </p:nvSpPr>
        <p:spPr>
          <a:xfrm>
            <a:off x="0" y="0"/>
            <a:ext cx="9059418" cy="652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b="1" dirty="0"/>
              <a:t>Module: Messaging</a:t>
            </a:r>
          </a:p>
          <a:p>
            <a:pPr>
              <a:buNone/>
            </a:pPr>
            <a:r>
              <a:rPr lang="en-US" sz="1100" b="1" dirty="0"/>
              <a:t>Screen Title: Ongoing Voice Call Screen</a:t>
            </a:r>
          </a:p>
          <a:p>
            <a:pPr>
              <a:buNone/>
            </a:pPr>
            <a:r>
              <a:rPr lang="en-US" sz="1100" b="1" dirty="0"/>
              <a:t>Purpose:</a:t>
            </a:r>
          </a:p>
          <a:p>
            <a:pPr>
              <a:buNone/>
            </a:pPr>
            <a:r>
              <a:rPr lang="en-US" sz="1100" dirty="0"/>
              <a:t>This screen represents an </a:t>
            </a:r>
            <a:r>
              <a:rPr lang="en-US" sz="1100" b="1" dirty="0"/>
              <a:t>active one-on-one voice call</a:t>
            </a:r>
            <a:r>
              <a:rPr lang="en-US" sz="1100" dirty="0"/>
              <a:t> between the user and a contact. It allows the user to manage call-related actions such as muting, toggling the speaker, and ending the call, all while maintaining a clean and minimal layout.</a:t>
            </a:r>
          </a:p>
          <a:p>
            <a:pPr>
              <a:buNone/>
            </a:pPr>
            <a:r>
              <a:rPr lang="en-US" sz="1100" b="1" dirty="0"/>
              <a:t>Sections</a:t>
            </a:r>
          </a:p>
          <a:p>
            <a:pPr>
              <a:buNone/>
            </a:pPr>
            <a:r>
              <a:rPr lang="en-US" sz="1100" b="1" dirty="0"/>
              <a:t>1. Header Area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Back Arrow:</a:t>
            </a:r>
            <a:r>
              <a:rPr lang="en-US" sz="1100" dirty="0"/>
              <a:t> Returns to the previous chat screen without ending the call.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Contact Info: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Displays </a:t>
            </a:r>
            <a:r>
              <a:rPr lang="en-US" sz="1100" b="1" dirty="0"/>
              <a:t>contact name (“Etty Duke”)</a:t>
            </a:r>
            <a:r>
              <a:rPr lang="en-US" sz="11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Shows </a:t>
            </a:r>
            <a:r>
              <a:rPr lang="en-US" sz="1100" b="1" dirty="0"/>
              <a:t>timestamp (07:38)</a:t>
            </a:r>
            <a:r>
              <a:rPr lang="en-US" sz="1100" dirty="0"/>
              <a:t> indicating when the call started.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Profile Icon (top-right):</a:t>
            </a:r>
            <a:r>
              <a:rPr lang="en-US" sz="1100" dirty="0"/>
              <a:t> Opens the contact’s </a:t>
            </a:r>
            <a:r>
              <a:rPr lang="en-US" sz="1100" b="1" dirty="0"/>
              <a:t>profile details or call options</a:t>
            </a:r>
            <a:r>
              <a:rPr lang="en-US" sz="1100" dirty="0"/>
              <a:t>.</a:t>
            </a:r>
          </a:p>
          <a:p>
            <a:pPr>
              <a:buNone/>
            </a:pPr>
            <a:r>
              <a:rPr lang="en-US" sz="1100" b="1" dirty="0"/>
              <a:t>2. Call Display Section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Profile Image: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Large, centered </a:t>
            </a:r>
            <a:r>
              <a:rPr lang="en-US" sz="1100" b="1" dirty="0"/>
              <a:t>rounded photo</a:t>
            </a:r>
            <a:r>
              <a:rPr lang="en-US" sz="1100" dirty="0"/>
              <a:t> of the contact to personalize the ongoing call.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Minimalist White Background: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Keeps user focus on the ongoing call and control buttons.</a:t>
            </a:r>
          </a:p>
          <a:p>
            <a:pPr>
              <a:buNone/>
            </a:pPr>
            <a:r>
              <a:rPr lang="en-US" sz="1100" b="1" dirty="0"/>
              <a:t>3. Call Control Bar (Bottom Area)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Action Buttons (left to right):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More Options (⋯):</a:t>
            </a:r>
            <a:r>
              <a:rPr lang="en-US" sz="1100" dirty="0"/>
              <a:t> Opens extra call functions (e.g., record, hold, add participant).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Video Toggle (camera icon):</a:t>
            </a:r>
            <a:r>
              <a:rPr lang="en-US" sz="1100" dirty="0"/>
              <a:t> Switches between audio and video call mode.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Speaker Icon:</a:t>
            </a:r>
            <a:r>
              <a:rPr lang="en-US" sz="1100" dirty="0"/>
              <a:t> Enables or disables loudspeaker output.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Mute Icon (microphone with slash):</a:t>
            </a:r>
            <a:r>
              <a:rPr lang="en-US" sz="1100" dirty="0"/>
              <a:t> Mutes or unmutes the user’s microphone.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End Call (red phone icon):</a:t>
            </a:r>
            <a:r>
              <a:rPr lang="en-US" sz="1100" dirty="0"/>
              <a:t> Ends the current voice call session.</a:t>
            </a:r>
          </a:p>
          <a:p>
            <a:pPr>
              <a:buNone/>
            </a:pPr>
            <a:r>
              <a:rPr lang="en-US" sz="1100" b="1" dirty="0"/>
              <a:t>Visual Highlights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Clean, white background</a:t>
            </a:r>
            <a:r>
              <a:rPr lang="en-US" sz="1100" dirty="0"/>
              <a:t> with minimal distractions to emphasize the call.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Rounded icon buttons</a:t>
            </a:r>
            <a:r>
              <a:rPr lang="en-US" sz="1100" dirty="0"/>
              <a:t> with soft shadows for a modern and friendly interface.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Primary action (End Call)</a:t>
            </a:r>
            <a:r>
              <a:rPr lang="en-US" sz="1100" dirty="0"/>
              <a:t> highlighted in </a:t>
            </a:r>
            <a:r>
              <a:rPr lang="en-US" sz="1100" b="1" dirty="0"/>
              <a:t>red</a:t>
            </a:r>
            <a:r>
              <a:rPr lang="en-US" sz="1100" dirty="0"/>
              <a:t>, ensuring quick accessibility.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Central profile focus:</a:t>
            </a:r>
            <a:r>
              <a:rPr lang="en-US" sz="1100" dirty="0"/>
              <a:t> Keeps communication personal and intuitive.</a:t>
            </a:r>
          </a:p>
          <a:p>
            <a:pPr>
              <a:buNone/>
            </a:pPr>
            <a:r>
              <a:rPr lang="en-US" sz="1100" b="1" dirty="0"/>
              <a:t>User Flow Note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From:</a:t>
            </a:r>
            <a:r>
              <a:rPr lang="en-US" sz="1100" dirty="0"/>
              <a:t> Triggered when the user initiates or answers a </a:t>
            </a:r>
            <a:r>
              <a:rPr lang="en-US" sz="1100" b="1" dirty="0"/>
              <a:t>voice call</a:t>
            </a:r>
            <a:r>
              <a:rPr lang="en-US" sz="1100" dirty="0"/>
              <a:t> from the chat interface.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User Actions: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Toggle between </a:t>
            </a:r>
            <a:r>
              <a:rPr lang="en-US" sz="1100" b="1" dirty="0"/>
              <a:t>speaker</a:t>
            </a:r>
            <a:r>
              <a:rPr lang="en-US" sz="1100" dirty="0"/>
              <a:t>, </a:t>
            </a:r>
            <a:r>
              <a:rPr lang="en-US" sz="1100" b="1" dirty="0"/>
              <a:t>mute</a:t>
            </a:r>
            <a:r>
              <a:rPr lang="en-US" sz="1100" dirty="0"/>
              <a:t>, or </a:t>
            </a:r>
            <a:r>
              <a:rPr lang="en-US" sz="1100" b="1" dirty="0"/>
              <a:t>video</a:t>
            </a:r>
            <a:r>
              <a:rPr lang="en-US" sz="1100" dirty="0"/>
              <a:t> options.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Access </a:t>
            </a:r>
            <a:r>
              <a:rPr lang="en-US" sz="1100" b="1" dirty="0"/>
              <a:t>more options</a:t>
            </a:r>
            <a:r>
              <a:rPr lang="en-US" sz="1100" dirty="0"/>
              <a:t> for advanced call controls.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Tap the </a:t>
            </a:r>
            <a:r>
              <a:rPr lang="en-US" sz="1100" b="1" dirty="0"/>
              <a:t>red phone icon</a:t>
            </a:r>
            <a:r>
              <a:rPr lang="en-US" sz="1100" dirty="0"/>
              <a:t> to end the call.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To: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On ending the call, the user is redirected back to the </a:t>
            </a:r>
            <a:r>
              <a:rPr lang="en-US" sz="1100" b="1" dirty="0"/>
              <a:t>chat conversation screen</a:t>
            </a:r>
            <a:r>
              <a:rPr lang="en-US" sz="1100" dirty="0"/>
              <a:t>, where a </a:t>
            </a:r>
            <a:r>
              <a:rPr lang="en-US" sz="1100" b="1" dirty="0"/>
              <a:t>call summary or “Call Ended” status</a:t>
            </a:r>
            <a:r>
              <a:rPr lang="en-US" sz="1100" dirty="0"/>
              <a:t> may appear in the message list.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0A2722-6C47-794F-9590-2EF3D5BF6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5409" y="0"/>
            <a:ext cx="30703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283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308D5D-90A3-E189-635A-575B6BD04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1985" y="0"/>
            <a:ext cx="3070318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C9DF03-C3DB-D7BD-9CB0-D1990E04CDE3}"/>
              </a:ext>
            </a:extLst>
          </p:cNvPr>
          <p:cNvSpPr txBox="1"/>
          <p:nvPr/>
        </p:nvSpPr>
        <p:spPr>
          <a:xfrm>
            <a:off x="-64008" y="0"/>
            <a:ext cx="9089136" cy="7201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b="1" dirty="0"/>
              <a:t>Module: Messaging</a:t>
            </a:r>
          </a:p>
          <a:p>
            <a:pPr>
              <a:buNone/>
            </a:pPr>
            <a:r>
              <a:rPr lang="en-US" sz="1100" b="1" dirty="0"/>
              <a:t>Screen Title: Ongoing Video Call Screen</a:t>
            </a:r>
          </a:p>
          <a:p>
            <a:pPr>
              <a:buNone/>
            </a:pPr>
            <a:r>
              <a:rPr lang="en-US" sz="1100" b="1" dirty="0"/>
              <a:t>Purpose: </a:t>
            </a:r>
            <a:r>
              <a:rPr lang="en-US" sz="1100" dirty="0"/>
              <a:t>This screen represents an </a:t>
            </a:r>
            <a:r>
              <a:rPr lang="en-US" sz="1100" b="1" dirty="0"/>
              <a:t>active video call</a:t>
            </a:r>
            <a:r>
              <a:rPr lang="en-US" sz="1100" dirty="0"/>
              <a:t> between the user and a contact. It enables both parties to see each other in real time and provides essential call management controls for an intuitive and distraction-free video experience.</a:t>
            </a:r>
          </a:p>
          <a:p>
            <a:pPr>
              <a:buNone/>
            </a:pPr>
            <a:r>
              <a:rPr lang="en-US" sz="1100" b="1" dirty="0"/>
              <a:t>Sections</a:t>
            </a:r>
          </a:p>
          <a:p>
            <a:pPr>
              <a:buNone/>
            </a:pPr>
            <a:r>
              <a:rPr lang="en-US" sz="1100" b="1" dirty="0"/>
              <a:t>1. Header Area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Back Arrow:</a:t>
            </a:r>
            <a:r>
              <a:rPr lang="en-US" sz="1100" dirty="0"/>
              <a:t> Allows the user to </a:t>
            </a:r>
            <a:r>
              <a:rPr lang="en-US" sz="1100" b="1" dirty="0"/>
              <a:t>minimize or exit</a:t>
            </a:r>
            <a:r>
              <a:rPr lang="en-US" sz="1100" dirty="0"/>
              <a:t> the call interface and return to the previous chat without ending the call.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Contact Info: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Displays </a:t>
            </a:r>
            <a:r>
              <a:rPr lang="en-US" sz="1100" b="1" dirty="0"/>
              <a:t>contact name (“Etty Duke”)</a:t>
            </a:r>
            <a:r>
              <a:rPr lang="en-US" sz="11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Shows </a:t>
            </a:r>
            <a:r>
              <a:rPr lang="en-US" sz="1100" b="1" dirty="0"/>
              <a:t>current time or call start time (07:38)</a:t>
            </a:r>
            <a:r>
              <a:rPr lang="en-US" sz="1100" dirty="0"/>
              <a:t> beneath the name.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Profile Icon (top-right):</a:t>
            </a:r>
            <a:r>
              <a:rPr lang="en-US" sz="1100" dirty="0"/>
              <a:t> Opens </a:t>
            </a:r>
            <a:r>
              <a:rPr lang="en-US" sz="1100" b="1" dirty="0"/>
              <a:t>contact profile or call details</a:t>
            </a:r>
            <a:r>
              <a:rPr lang="en-US" sz="1100" dirty="0"/>
              <a:t> panel.</a:t>
            </a:r>
          </a:p>
          <a:p>
            <a:pPr>
              <a:buNone/>
            </a:pPr>
            <a:r>
              <a:rPr lang="en-US" sz="1100" b="1" dirty="0"/>
              <a:t>2. Video Display Section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Main Video Feed: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Full-screen display of the </a:t>
            </a:r>
            <a:r>
              <a:rPr lang="en-US" sz="1100" b="1" dirty="0"/>
              <a:t>contact’s live video feed</a:t>
            </a:r>
            <a:r>
              <a:rPr lang="en-US" sz="1100" dirty="0"/>
              <a:t> (Etty Duke).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User’s Video Preview: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A </a:t>
            </a:r>
            <a:r>
              <a:rPr lang="en-US" sz="1100" b="1" dirty="0"/>
              <a:t>smaller, movable thumbnail</a:t>
            </a:r>
            <a:r>
              <a:rPr lang="en-US" sz="1100" dirty="0"/>
              <a:t> at the bottom right corner labeled “You.”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Displays the user’s own camera feed.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Includes a </a:t>
            </a:r>
            <a:r>
              <a:rPr lang="en-US" sz="1100" b="1" dirty="0"/>
              <a:t>blue border highlight</a:t>
            </a:r>
            <a:r>
              <a:rPr lang="en-US" sz="1100" dirty="0"/>
              <a:t> for clear separation from the main video.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Audio Activity Icon (top-right on main feed):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Small waveform icon indicating </a:t>
            </a:r>
            <a:r>
              <a:rPr lang="en-US" sz="1100" b="1" dirty="0"/>
              <a:t>active audio or speaking status</a:t>
            </a:r>
            <a:r>
              <a:rPr lang="en-US" sz="1100" dirty="0"/>
              <a:t> of the contact.</a:t>
            </a:r>
          </a:p>
          <a:p>
            <a:pPr>
              <a:buNone/>
            </a:pPr>
            <a:r>
              <a:rPr lang="en-US" sz="1100" b="1" dirty="0"/>
              <a:t>3. Call Control Bar (Bottom Area)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Buttons (left to right):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Camera Toggle:</a:t>
            </a:r>
            <a:r>
              <a:rPr lang="en-US" sz="1100" dirty="0"/>
              <a:t> Switch between front and rear cameras.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Microphone Icon:</a:t>
            </a:r>
            <a:r>
              <a:rPr lang="en-US" sz="1100" dirty="0"/>
              <a:t> Mute or unmute the user’s mic.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End Call (red phone):</a:t>
            </a:r>
            <a:r>
              <a:rPr lang="en-US" sz="1100" dirty="0"/>
              <a:t> Immediately ends the video call.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Share Screen / Media Icon:</a:t>
            </a:r>
            <a:r>
              <a:rPr lang="en-US" sz="1100" dirty="0"/>
              <a:t> Opens sharing options (screen, files, or media).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/>
              <a:t>Audio Output Icon (headphones):</a:t>
            </a:r>
            <a:r>
              <a:rPr lang="en-US" sz="1100" dirty="0"/>
              <a:t> Switches between earpiece, speaker, or connected Bluetooth device.</a:t>
            </a:r>
          </a:p>
          <a:p>
            <a:pPr>
              <a:buNone/>
            </a:pPr>
            <a:r>
              <a:rPr lang="en-US" sz="1100" b="1" dirty="0"/>
              <a:t>Visual Highlights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Clean and minimal layout</a:t>
            </a:r>
            <a:r>
              <a:rPr lang="en-US" sz="1100" dirty="0"/>
              <a:t> with floating call controls.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Full-screen video focus</a:t>
            </a:r>
            <a:r>
              <a:rPr lang="en-US" sz="1100" dirty="0"/>
              <a:t> enhances engagement between users.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Rounded icons</a:t>
            </a:r>
            <a:r>
              <a:rPr lang="en-US" sz="1100" dirty="0"/>
              <a:t> with subtle shadows for modern UI consistency.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Red call end button</a:t>
            </a:r>
            <a:r>
              <a:rPr lang="en-US" sz="1100" dirty="0"/>
              <a:t> visually distinct for quick identification.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User’s mini preview</a:t>
            </a:r>
            <a:r>
              <a:rPr lang="en-US" sz="1100" dirty="0"/>
              <a:t> provides a clear personal frame reference.</a:t>
            </a:r>
          </a:p>
          <a:p>
            <a:pPr>
              <a:buNone/>
            </a:pPr>
            <a:r>
              <a:rPr lang="en-US" sz="1100" b="1" dirty="0"/>
              <a:t>User Flow Note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From:</a:t>
            </a:r>
            <a:r>
              <a:rPr lang="en-US" sz="1100" dirty="0"/>
              <a:t> Accessed when the user upgrades a </a:t>
            </a:r>
            <a:r>
              <a:rPr lang="en-US" sz="1100" b="1" dirty="0"/>
              <a:t>voice call to video</a:t>
            </a:r>
            <a:r>
              <a:rPr lang="en-US" sz="1100" dirty="0"/>
              <a:t>, or initiates a video call directly from the </a:t>
            </a:r>
            <a:r>
              <a:rPr lang="en-US" sz="1100" b="1" dirty="0"/>
              <a:t>chat interface</a:t>
            </a:r>
            <a:r>
              <a:rPr lang="en-US" sz="1100" dirty="0"/>
              <a:t> or </a:t>
            </a:r>
            <a:r>
              <a:rPr lang="en-US" sz="1100" b="1" dirty="0"/>
              <a:t>contact profile</a:t>
            </a:r>
            <a:r>
              <a:rPr lang="en-US" sz="11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User Actions: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Toggle camera or microphone.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Switch between speaker, earpiece, or Bluetooth.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Share screen or media.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End call using the red button.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To: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On ending the call, user returns to the </a:t>
            </a:r>
            <a:r>
              <a:rPr lang="en-US" sz="1100" b="1" dirty="0"/>
              <a:t>chat conversation screen</a:t>
            </a:r>
            <a:r>
              <a:rPr lang="en-US" sz="1100" dirty="0"/>
              <a:t>, where a </a:t>
            </a:r>
            <a:r>
              <a:rPr lang="en-US" sz="1100" b="1" dirty="0"/>
              <a:t>“Video Call Ended”</a:t>
            </a:r>
            <a:r>
              <a:rPr lang="en-US" sz="1100" dirty="0"/>
              <a:t> message or summary appears.</a:t>
            </a:r>
          </a:p>
        </p:txBody>
      </p:sp>
    </p:spTree>
    <p:extLst>
      <p:ext uri="{BB962C8B-B14F-4D97-AF65-F5344CB8AC3E}">
        <p14:creationId xmlns:p14="http://schemas.microsoft.com/office/powerpoint/2010/main" val="3156584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80B888-52CF-BBC9-8523-56835C5DF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5409" y="0"/>
            <a:ext cx="3070318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40A7CE-6853-351A-0550-CAFA30C9DA63}"/>
              </a:ext>
            </a:extLst>
          </p:cNvPr>
          <p:cNvSpPr txBox="1"/>
          <p:nvPr/>
        </p:nvSpPr>
        <p:spPr>
          <a:xfrm>
            <a:off x="102870" y="117693"/>
            <a:ext cx="8117586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/>
              <a:t>Module: Messaging</a:t>
            </a:r>
          </a:p>
          <a:p>
            <a:pPr>
              <a:buNone/>
            </a:pPr>
            <a:r>
              <a:rPr lang="en-US" sz="1200" b="1" dirty="0"/>
              <a:t>Screen Title: Video Recording Screen</a:t>
            </a:r>
          </a:p>
          <a:p>
            <a:pPr>
              <a:buNone/>
            </a:pPr>
            <a:r>
              <a:rPr lang="en-US" sz="1200" b="1" dirty="0"/>
              <a:t>Purpose:</a:t>
            </a:r>
          </a:p>
          <a:p>
            <a:pPr>
              <a:buNone/>
            </a:pPr>
            <a:r>
              <a:rPr lang="en-US" sz="1200" dirty="0"/>
              <a:t>This screen allows the user to </a:t>
            </a:r>
            <a:r>
              <a:rPr lang="en-US" sz="1200" b="1" dirty="0"/>
              <a:t>record a short video message</a:t>
            </a:r>
            <a:r>
              <a:rPr lang="en-US" sz="1200" dirty="0"/>
              <a:t> or </a:t>
            </a:r>
            <a:r>
              <a:rPr lang="en-US" sz="1200" b="1" dirty="0"/>
              <a:t>capture a live video</a:t>
            </a:r>
            <a:r>
              <a:rPr lang="en-US" sz="1200" dirty="0"/>
              <a:t> to send to a contact. It provides simple and direct recording controls in a clean layout focused on the camera feed.</a:t>
            </a:r>
          </a:p>
          <a:p>
            <a:pPr>
              <a:buNone/>
            </a:pPr>
            <a:endParaRPr lang="en-US" sz="1200" dirty="0"/>
          </a:p>
          <a:p>
            <a:pPr>
              <a:buNone/>
            </a:pPr>
            <a:r>
              <a:rPr lang="en-US" sz="1200" b="1" dirty="0"/>
              <a:t>Sections</a:t>
            </a:r>
          </a:p>
          <a:p>
            <a:pPr>
              <a:buNone/>
            </a:pPr>
            <a:r>
              <a:rPr lang="en-US" sz="1200" b="1" dirty="0"/>
              <a:t>1. Header Area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Close (X) Icon:</a:t>
            </a:r>
            <a:r>
              <a:rPr lang="en-US" sz="1200" dirty="0"/>
              <a:t> Cancels the recording session and returns the user to the previous screen (e.g., chat screen).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Timestamp:</a:t>
            </a:r>
            <a:r>
              <a:rPr lang="en-US" sz="1200" dirty="0"/>
              <a:t> Displays current time (</a:t>
            </a:r>
            <a:r>
              <a:rPr lang="en-US" sz="1200" dirty="0">
                <a:latin typeface="Courier New" panose="02070309020205020404" pitchFamily="49" charset="0"/>
              </a:rPr>
              <a:t>07.38</a:t>
            </a:r>
            <a:r>
              <a:rPr lang="en-US" sz="1200" dirty="0"/>
              <a:t>), indicating when the recording session was initiated.</a:t>
            </a:r>
          </a:p>
          <a:p>
            <a:pPr>
              <a:buNone/>
            </a:pPr>
            <a:r>
              <a:rPr lang="en-US" sz="1200" b="1" dirty="0"/>
              <a:t>2. Camera Preview Area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Full-screen video feed</a:t>
            </a:r>
            <a:r>
              <a:rPr lang="en-US" sz="1200" dirty="0"/>
              <a:t> showing the camera preview (front or rear).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Rounded corners</a:t>
            </a:r>
            <a:r>
              <a:rPr lang="en-US" sz="1200" dirty="0"/>
              <a:t> applied to the video preview for aesthetic consistency with the app’s design.</a:t>
            </a:r>
          </a:p>
          <a:p>
            <a:pPr>
              <a:buNone/>
            </a:pPr>
            <a:r>
              <a:rPr lang="en-US" sz="1200" b="1" dirty="0"/>
              <a:t>3. Bottom Control Bar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Left Icon (Flash):</a:t>
            </a:r>
            <a:r>
              <a:rPr lang="en-US" sz="1200" dirty="0"/>
              <a:t> Toggles camera flash on/off.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Center Icon (Red Circle):</a:t>
            </a:r>
            <a:endParaRPr lang="en-US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Primary </a:t>
            </a:r>
            <a:r>
              <a:rPr lang="en-US" sz="1200" b="1" dirty="0"/>
              <a:t>record button</a:t>
            </a:r>
            <a:r>
              <a:rPr lang="en-US" sz="12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Starts/stops video recording when tapped.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Right Icon (Camera Switch):</a:t>
            </a:r>
            <a:r>
              <a:rPr lang="en-US" sz="1200" dirty="0"/>
              <a:t> Switches between front and rear cameras.</a:t>
            </a:r>
          </a:p>
          <a:p>
            <a:pPr>
              <a:buNone/>
            </a:pPr>
            <a:r>
              <a:rPr lang="en-US" sz="1200" b="1" dirty="0"/>
              <a:t>Visual Highlights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Minimal interface</a:t>
            </a:r>
            <a:r>
              <a:rPr lang="en-US" sz="1200" dirty="0"/>
              <a:t> to avoid distractions during recording.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Large central record button</a:t>
            </a:r>
            <a:r>
              <a:rPr lang="en-US" sz="1200" dirty="0"/>
              <a:t> for accessibility.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Top and bottom elements spaced for comfort</a:t>
            </a:r>
            <a:r>
              <a:rPr lang="en-US" sz="1200" dirty="0"/>
              <a:t> and ease of thumb reach.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Consistent white background</a:t>
            </a:r>
            <a:r>
              <a:rPr lang="en-US" sz="1200" dirty="0"/>
              <a:t> on control bar matching the app’s aesthetic.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Rounded corners</a:t>
            </a:r>
            <a:r>
              <a:rPr lang="en-US" sz="1200" dirty="0"/>
              <a:t> and soft shadows maintain visual harmony with other media-related screens.</a:t>
            </a:r>
          </a:p>
          <a:p>
            <a:pPr>
              <a:buNone/>
            </a:pPr>
            <a:r>
              <a:rPr lang="en-US" sz="1200" b="1" dirty="0"/>
              <a:t>User Flow Note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From:</a:t>
            </a:r>
            <a:r>
              <a:rPr lang="en-US" sz="1200" dirty="0"/>
              <a:t> Accessed via the </a:t>
            </a:r>
            <a:r>
              <a:rPr lang="en-US" sz="1200" b="1" dirty="0"/>
              <a:t>chat interface</a:t>
            </a:r>
            <a:r>
              <a:rPr lang="en-US" sz="1200" dirty="0"/>
              <a:t>, when the user selects </a:t>
            </a:r>
            <a:r>
              <a:rPr lang="en-US" sz="1200" b="1" dirty="0"/>
              <a:t>video message</a:t>
            </a:r>
            <a:r>
              <a:rPr lang="en-US" sz="1200" dirty="0"/>
              <a:t>, or taps </a:t>
            </a:r>
            <a:r>
              <a:rPr lang="en-US" sz="1200" b="1" dirty="0"/>
              <a:t>camera/video icon</a:t>
            </a:r>
            <a:r>
              <a:rPr lang="en-US" sz="1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User Actions:</a:t>
            </a:r>
            <a:endParaRPr lang="en-US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Preview camera before recording.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Toggle flash or switch cameras.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Start and stop recording with the red button.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Cancel the recording using the “X” icon.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To:</a:t>
            </a:r>
            <a:endParaRPr lang="en-US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After recording, the user is redirected to the </a:t>
            </a:r>
            <a:r>
              <a:rPr lang="en-US" sz="1200" b="1" dirty="0"/>
              <a:t>video review screen</a:t>
            </a:r>
            <a:r>
              <a:rPr lang="en-US" sz="1200" dirty="0"/>
              <a:t>, where they can </a:t>
            </a:r>
            <a:r>
              <a:rPr lang="en-US" sz="1200" b="1" dirty="0"/>
              <a:t>preview, save, or send</a:t>
            </a:r>
            <a:r>
              <a:rPr lang="en-US" sz="1200" dirty="0"/>
              <a:t> the recorded video.</a:t>
            </a:r>
          </a:p>
        </p:txBody>
      </p:sp>
    </p:spTree>
    <p:extLst>
      <p:ext uri="{BB962C8B-B14F-4D97-AF65-F5344CB8AC3E}">
        <p14:creationId xmlns:p14="http://schemas.microsoft.com/office/powerpoint/2010/main" val="345136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361B3F-BD76-799B-9469-DD1DF2714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5409" y="0"/>
            <a:ext cx="3070318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A9BF0A-1261-E878-5CB2-720296ACD097}"/>
              </a:ext>
            </a:extLst>
          </p:cNvPr>
          <p:cNvSpPr txBox="1"/>
          <p:nvPr/>
        </p:nvSpPr>
        <p:spPr>
          <a:xfrm>
            <a:off x="16273" y="119694"/>
            <a:ext cx="787020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/>
              <a:t>Module: Messaging</a:t>
            </a:r>
          </a:p>
          <a:p>
            <a:pPr>
              <a:buNone/>
            </a:pPr>
            <a:r>
              <a:rPr lang="en-US" sz="1200" b="1" dirty="0"/>
              <a:t>Screen Title: Video Recording (In Progress)</a:t>
            </a:r>
          </a:p>
          <a:p>
            <a:pPr>
              <a:buNone/>
            </a:pPr>
            <a:r>
              <a:rPr lang="en-US" sz="1200" b="1" dirty="0"/>
              <a:t>Purpose:</a:t>
            </a:r>
          </a:p>
          <a:p>
            <a:pPr>
              <a:buNone/>
            </a:pPr>
            <a:r>
              <a:rPr lang="en-US" sz="1200" dirty="0"/>
              <a:t>This screen allows the user to </a:t>
            </a:r>
            <a:r>
              <a:rPr lang="en-US" sz="1200" b="1" dirty="0"/>
              <a:t>record a video message</a:t>
            </a:r>
            <a:r>
              <a:rPr lang="en-US" sz="1200" dirty="0"/>
              <a:t> or </a:t>
            </a:r>
            <a:r>
              <a:rPr lang="en-US" sz="1200" b="1" dirty="0"/>
              <a:t>capture a live video clip</a:t>
            </a:r>
            <a:r>
              <a:rPr lang="en-US" sz="1200" dirty="0"/>
              <a:t>. It visually indicates that </a:t>
            </a:r>
            <a:r>
              <a:rPr lang="en-US" sz="1200" b="1" dirty="0"/>
              <a:t>recording is currently in progress</a:t>
            </a:r>
            <a:r>
              <a:rPr lang="en-US" sz="1200" dirty="0"/>
              <a:t>, maintaining a simple layout focused on the video feed.</a:t>
            </a:r>
          </a:p>
          <a:p>
            <a:pPr>
              <a:buNone/>
            </a:pPr>
            <a:r>
              <a:rPr lang="en-US" sz="1200" b="1" dirty="0"/>
              <a:t>Sections</a:t>
            </a:r>
          </a:p>
          <a:p>
            <a:pPr>
              <a:buNone/>
            </a:pPr>
            <a:r>
              <a:rPr lang="en-US" sz="1200" b="1" dirty="0"/>
              <a:t>1. Header Area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Close (X) Icon:</a:t>
            </a:r>
            <a:r>
              <a:rPr lang="en-US" sz="1200" dirty="0"/>
              <a:t> Cancels the recording and exits to the previous screen (e.g., chat interface).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Timestamp (07.38):</a:t>
            </a:r>
            <a:r>
              <a:rPr lang="en-US" sz="1200" dirty="0"/>
              <a:t> Shows the current time when the recording session started or is ongoing.</a:t>
            </a:r>
          </a:p>
          <a:p>
            <a:pPr>
              <a:buNone/>
            </a:pPr>
            <a:r>
              <a:rPr lang="en-US" sz="1200" b="1" dirty="0"/>
              <a:t>2. Camera Preview Area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Full-screen camera feed</a:t>
            </a:r>
            <a:r>
              <a:rPr lang="en-US" sz="1200" dirty="0"/>
              <a:t> with rounded corners for consistency.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The video preview remains visible while recording to provide real-time framing.</a:t>
            </a:r>
          </a:p>
          <a:p>
            <a:pPr>
              <a:buNone/>
            </a:pPr>
            <a:r>
              <a:rPr lang="en-US" sz="1200" b="1" dirty="0"/>
              <a:t>3. Bottom Control Bar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Left Icon (Flash):</a:t>
            </a:r>
            <a:r>
              <a:rPr lang="en-US" sz="1200" dirty="0"/>
              <a:t> Toggles camera flash on/off.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Center Icon (Red Circle with Stop Symbol):</a:t>
            </a:r>
            <a:endParaRPr lang="en-US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Indicates </a:t>
            </a:r>
            <a:r>
              <a:rPr lang="en-US" sz="1200" b="1" dirty="0"/>
              <a:t>recording is active</a:t>
            </a:r>
            <a:r>
              <a:rPr lang="en-US" sz="12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Tapping it </a:t>
            </a:r>
            <a:r>
              <a:rPr lang="en-US" sz="1200" b="1" dirty="0"/>
              <a:t>stops the recording</a:t>
            </a:r>
            <a:r>
              <a:rPr lang="en-US" sz="1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Right Icon (Camera Switch):</a:t>
            </a:r>
            <a:r>
              <a:rPr lang="en-US" sz="1200" dirty="0"/>
              <a:t> Allows switching between front and rear cameras (disabled while recording in some implementations).</a:t>
            </a:r>
          </a:p>
          <a:p>
            <a:pPr>
              <a:buNone/>
            </a:pPr>
            <a:r>
              <a:rPr lang="en-US" sz="1200" b="1" dirty="0"/>
              <a:t>Visual Highlights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Red circular button with a square icon</a:t>
            </a:r>
            <a:r>
              <a:rPr lang="en-US" sz="1200" dirty="0"/>
              <a:t> clearly communicates active recording.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Subtle color contrast</a:t>
            </a:r>
            <a:r>
              <a:rPr lang="en-US" sz="1200" dirty="0"/>
              <a:t> between header and control area to maintain focus on the live video.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Simple control layout</a:t>
            </a:r>
            <a:r>
              <a:rPr lang="en-US" sz="1200" dirty="0"/>
              <a:t> optimized for one-handed use.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Consistent typography and rounded edges</a:t>
            </a:r>
            <a:r>
              <a:rPr lang="en-US" sz="1200" dirty="0"/>
              <a:t> aligned with app design language.</a:t>
            </a:r>
          </a:p>
          <a:p>
            <a:pPr>
              <a:buNone/>
            </a:pPr>
            <a:r>
              <a:rPr lang="en-US" sz="1200" b="1" dirty="0"/>
              <a:t>User Flow Note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From:</a:t>
            </a:r>
            <a:r>
              <a:rPr lang="en-US" sz="1200" dirty="0"/>
              <a:t> Triggered after pressing the record button on the </a:t>
            </a:r>
            <a:r>
              <a:rPr lang="en-US" sz="1200" b="1" dirty="0"/>
              <a:t>Video Recording Screen (Idle State)</a:t>
            </a:r>
            <a:r>
              <a:rPr lang="en-US" sz="1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User Actions:</a:t>
            </a:r>
            <a:endParaRPr lang="en-US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User records their video message.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Can stop recording by tapping the red stop button.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Can cancel recording anytime via the “X” icon.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To:</a:t>
            </a:r>
            <a:endParaRPr lang="en-US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After stopping, user proceeds to </a:t>
            </a:r>
            <a:r>
              <a:rPr lang="en-US" sz="1200" b="1" dirty="0"/>
              <a:t>Video Review Screen</a:t>
            </a:r>
            <a:r>
              <a:rPr lang="en-US" sz="1200" dirty="0"/>
              <a:t> to </a:t>
            </a:r>
            <a:r>
              <a:rPr lang="en-US" sz="1200" b="1" dirty="0"/>
              <a:t>preview, save, or send</a:t>
            </a:r>
            <a:r>
              <a:rPr lang="en-US" sz="1200" dirty="0"/>
              <a:t> the recorded clip.</a:t>
            </a:r>
          </a:p>
        </p:txBody>
      </p:sp>
    </p:spTree>
    <p:extLst>
      <p:ext uri="{BB962C8B-B14F-4D97-AF65-F5344CB8AC3E}">
        <p14:creationId xmlns:p14="http://schemas.microsoft.com/office/powerpoint/2010/main" val="10391049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CEC772-C702-D200-64FC-6C8B5D42B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4553" y="0"/>
            <a:ext cx="3070318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17C67B-68FB-52F7-65BE-59CEF5476E04}"/>
              </a:ext>
            </a:extLst>
          </p:cNvPr>
          <p:cNvSpPr txBox="1"/>
          <p:nvPr/>
        </p:nvSpPr>
        <p:spPr>
          <a:xfrm>
            <a:off x="0" y="0"/>
            <a:ext cx="9043416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/>
              <a:t>Module: Messaging</a:t>
            </a:r>
          </a:p>
          <a:p>
            <a:pPr>
              <a:buNone/>
            </a:pPr>
            <a:r>
              <a:rPr lang="en-US" sz="1200" b="1" dirty="0"/>
              <a:t>Screen Title: Group Video Call</a:t>
            </a:r>
          </a:p>
          <a:p>
            <a:pPr>
              <a:buNone/>
            </a:pPr>
            <a:r>
              <a:rPr lang="en-US" sz="1200" b="1" dirty="0"/>
              <a:t>Purpose: </a:t>
            </a:r>
            <a:r>
              <a:rPr lang="en-US" sz="1200" dirty="0"/>
              <a:t>This screen facilitates </a:t>
            </a:r>
            <a:r>
              <a:rPr lang="en-US" sz="1200" b="1" dirty="0"/>
              <a:t>real-time group video calls</a:t>
            </a:r>
            <a:r>
              <a:rPr lang="en-US" sz="1200" dirty="0"/>
              <a:t>, showing multiple participants in a grid view. It provides quick access to call controls such as mute, video toggle, and call end, ensuring a clear and intuitive conferencing experience.</a:t>
            </a:r>
          </a:p>
          <a:p>
            <a:pPr>
              <a:buNone/>
            </a:pPr>
            <a:r>
              <a:rPr lang="en-US" sz="1200" b="1" dirty="0"/>
              <a:t>Sections</a:t>
            </a:r>
          </a:p>
          <a:p>
            <a:pPr>
              <a:buNone/>
            </a:pPr>
            <a:r>
              <a:rPr lang="en-US" sz="1200" b="1" dirty="0"/>
              <a:t>1. Header Area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Back Arrow:</a:t>
            </a:r>
            <a:r>
              <a:rPr lang="en-US" sz="1200" dirty="0"/>
              <a:t> Returns to the previous screen (e.g., chat or call log).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Group Title:</a:t>
            </a:r>
            <a:r>
              <a:rPr lang="en-US" sz="1200" dirty="0"/>
              <a:t> “Group Call” — displays the ongoing session name.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Timestamp:</a:t>
            </a:r>
            <a:r>
              <a:rPr lang="en-US" sz="1200" dirty="0"/>
              <a:t> “07.38” — shows call start time or current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Participant Icon (top right):</a:t>
            </a:r>
            <a:r>
              <a:rPr lang="en-US" sz="1200" dirty="0"/>
              <a:t> Opens participant list or call management options.</a:t>
            </a:r>
          </a:p>
          <a:p>
            <a:pPr>
              <a:buNone/>
            </a:pPr>
            <a:r>
              <a:rPr lang="en-US" sz="1200" b="1" dirty="0"/>
              <a:t>2. Video Grid Area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Displays up to </a:t>
            </a:r>
            <a:r>
              <a:rPr lang="en-US" sz="1200" b="1" dirty="0"/>
              <a:t>four active participants</a:t>
            </a:r>
            <a:r>
              <a:rPr lang="en-US" sz="1200" dirty="0"/>
              <a:t> in a 2x2 grid: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Eduardo:</a:t>
            </a:r>
            <a:r>
              <a:rPr lang="en-US" sz="1200" dirty="0"/>
              <a:t> Active video with muted microphone.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Katy Berry (KB):</a:t>
            </a:r>
            <a:r>
              <a:rPr lang="en-US" sz="1200" dirty="0"/>
              <a:t> Audio-only participant, initials displayed in a tile.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Richards:</a:t>
            </a:r>
            <a:r>
              <a:rPr lang="en-US" sz="1200" dirty="0"/>
              <a:t> Active video and speaking indicator (blue soundwave icon).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Kayle:</a:t>
            </a:r>
            <a:r>
              <a:rPr lang="en-US" sz="1200" dirty="0"/>
              <a:t> Active video feed.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Additional Participants:</a:t>
            </a:r>
            <a:r>
              <a:rPr lang="en-US" sz="1200" dirty="0"/>
              <a:t> Shown as small circular thumbnails below grid (e.g., VD, plus “+10” indicator for extra members).</a:t>
            </a:r>
          </a:p>
          <a:p>
            <a:pPr>
              <a:buNone/>
            </a:pPr>
            <a:r>
              <a:rPr lang="en-US" sz="1200" b="1" dirty="0"/>
              <a:t>3. Call Control Bar (Bottom)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More Options (···):</a:t>
            </a:r>
            <a:r>
              <a:rPr lang="en-US" sz="1200" dirty="0"/>
              <a:t> Opens additional settings or features (e.g., switch camera, recording).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Video Toggle:</a:t>
            </a:r>
            <a:r>
              <a:rPr lang="en-US" sz="1200" dirty="0"/>
              <a:t> Enables/disables the user’s camera.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Speaker Toggle:</a:t>
            </a:r>
            <a:r>
              <a:rPr lang="en-US" sz="1200" dirty="0"/>
              <a:t> Switches between speaker and earpiece mode.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Mute Microphone:</a:t>
            </a:r>
            <a:r>
              <a:rPr lang="en-US" sz="1200" dirty="0"/>
              <a:t> Mutes or unmutes user’s microphone.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End Call (Red Button):</a:t>
            </a:r>
            <a:r>
              <a:rPr lang="en-US" sz="1200" dirty="0"/>
              <a:t> Ends the group call session.</a:t>
            </a:r>
          </a:p>
          <a:p>
            <a:pPr>
              <a:buNone/>
            </a:pPr>
            <a:r>
              <a:rPr lang="en-US" sz="1200" b="1" dirty="0"/>
              <a:t>Visual Highlights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4-participant grid layout</a:t>
            </a:r>
            <a:r>
              <a:rPr lang="en-US" sz="1200" dirty="0"/>
              <a:t> with equal card sizing and rounded corners for a balanced look.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Speaking indicators (soundwave icons)</a:t>
            </a:r>
            <a:r>
              <a:rPr lang="en-US" sz="1200" dirty="0"/>
              <a:t> help identify active speakers.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Muted and camera-off indicators</a:t>
            </a:r>
            <a:r>
              <a:rPr lang="en-US" sz="1200" dirty="0"/>
              <a:t> for clarity on each participant’s status.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Consistent color coding</a:t>
            </a:r>
            <a:r>
              <a:rPr lang="en-US" sz="1200" dirty="0"/>
              <a:t> — red for call termination, blue for active voice, grey for muted.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Small avatars</a:t>
            </a:r>
            <a:r>
              <a:rPr lang="en-US" sz="1200" dirty="0"/>
              <a:t> below the grid efficiently represent extra participants without crowding the view.</a:t>
            </a:r>
          </a:p>
          <a:p>
            <a:pPr>
              <a:buNone/>
            </a:pPr>
            <a:r>
              <a:rPr lang="en-US" sz="1200" b="1" dirty="0"/>
              <a:t>User Flow Note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From:</a:t>
            </a:r>
            <a:r>
              <a:rPr lang="en-US" sz="1200" dirty="0"/>
              <a:t> Triggered when a user joins an existing group video call or initiates one from the chat.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User Actions:</a:t>
            </a:r>
            <a:endParaRPr lang="en-US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View live video feeds of multiple participants.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Toggle camera, microphone, or audio output.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Access additional options or end the call.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To:</a:t>
            </a:r>
            <a:endParaRPr lang="en-US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Returns to chat screen</a:t>
            </a:r>
            <a:r>
              <a:rPr lang="en-US" sz="1200" dirty="0"/>
              <a:t> upon ending the call.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Opens participant details screen</a:t>
            </a:r>
            <a:r>
              <a:rPr lang="en-US" sz="1200" dirty="0"/>
              <a:t> if the participant icon is tapped.</a:t>
            </a:r>
          </a:p>
        </p:txBody>
      </p:sp>
    </p:spTree>
    <p:extLst>
      <p:ext uri="{BB962C8B-B14F-4D97-AF65-F5344CB8AC3E}">
        <p14:creationId xmlns:p14="http://schemas.microsoft.com/office/powerpoint/2010/main" val="39932445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48AD8F-A54E-F357-B52C-4DB691763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5409" y="0"/>
            <a:ext cx="3070318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020BF4-C54F-609E-15CC-EE0818A12B83}"/>
              </a:ext>
            </a:extLst>
          </p:cNvPr>
          <p:cNvSpPr txBox="1"/>
          <p:nvPr/>
        </p:nvSpPr>
        <p:spPr>
          <a:xfrm>
            <a:off x="0" y="0"/>
            <a:ext cx="8720598" cy="877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/>
              <a:t>Module: Messaging</a:t>
            </a:r>
          </a:p>
          <a:p>
            <a:pPr>
              <a:buNone/>
            </a:pPr>
            <a:r>
              <a:rPr lang="en-US" sz="1200" b="1" dirty="0"/>
              <a:t>Screen Title: Group Video Call (Active Session)</a:t>
            </a:r>
          </a:p>
          <a:p>
            <a:pPr>
              <a:buNone/>
            </a:pPr>
            <a:r>
              <a:rPr lang="en-US" sz="1200" b="1" dirty="0"/>
              <a:t>Purpose: </a:t>
            </a:r>
            <a:r>
              <a:rPr lang="en-US" sz="1200" dirty="0"/>
              <a:t>This screen displays an </a:t>
            </a:r>
            <a:r>
              <a:rPr lang="en-US" sz="1200" b="1" dirty="0"/>
              <a:t>active group video call</a:t>
            </a:r>
            <a:r>
              <a:rPr lang="en-US" sz="1200" dirty="0"/>
              <a:t> where multiple participants are connected via video and audio. It allows the user to monitor the call, manage participants, and control their own video, audio, and call settings.</a:t>
            </a:r>
          </a:p>
          <a:p>
            <a:pPr>
              <a:buNone/>
            </a:pPr>
            <a:r>
              <a:rPr lang="en-US" sz="1200" b="1" dirty="0"/>
              <a:t>Sections</a:t>
            </a:r>
          </a:p>
          <a:p>
            <a:pPr>
              <a:buNone/>
            </a:pPr>
            <a:r>
              <a:rPr lang="en-US" sz="1200" b="1" dirty="0"/>
              <a:t>1. Header Area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Back Arrow:</a:t>
            </a:r>
            <a:r>
              <a:rPr lang="en-US" sz="1200" dirty="0"/>
              <a:t> Returns to the previous screen (e.g., chat or call log).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Title:</a:t>
            </a:r>
            <a:r>
              <a:rPr lang="en-US" sz="1200" dirty="0"/>
              <a:t> “Group Video Call” — identifies the current session.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Timestamp:</a:t>
            </a:r>
            <a:r>
              <a:rPr lang="en-US" sz="1200" dirty="0"/>
              <a:t> “07.38” — shows the ongoing call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Participant Icon (top right):</a:t>
            </a:r>
            <a:r>
              <a:rPr lang="en-US" sz="1200" dirty="0"/>
              <a:t> Opens a full list of participants currently in the call.</a:t>
            </a:r>
          </a:p>
          <a:p>
            <a:pPr>
              <a:buNone/>
            </a:pPr>
            <a:r>
              <a:rPr lang="en-US" sz="1200" b="1" dirty="0"/>
              <a:t>2. Main Video Display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Eduardo (Top Tile):</a:t>
            </a:r>
            <a:endParaRPr lang="en-US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Prominently displayed as the main active speaker.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Soundwave icon (blue):</a:t>
            </a:r>
            <a:r>
              <a:rPr lang="en-US" sz="1200" dirty="0"/>
              <a:t> Indicates Eduardo is currently speaking.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Muted mic icon (grey):</a:t>
            </a:r>
            <a:r>
              <a:rPr lang="en-US" sz="1200" dirty="0"/>
              <a:t> Represents muted microphone when not speaking.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Richards (Bottom Left Tile):</a:t>
            </a:r>
            <a:endParaRPr lang="en-US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Active participant with camera 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Blue soundwave icon:</a:t>
            </a:r>
            <a:r>
              <a:rPr lang="en-US" sz="1200" dirty="0"/>
              <a:t> Indicates active speech detection.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Kayle (Bottom Right Tile):</a:t>
            </a:r>
            <a:endParaRPr lang="en-US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Participant with active video feed.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Muted mic icon:</a:t>
            </a:r>
            <a:r>
              <a:rPr lang="en-US" sz="1200" dirty="0"/>
              <a:t> Indicates she is muted.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Each tile uses rounded edges and equal padding for visual balance.</a:t>
            </a:r>
          </a:p>
          <a:p>
            <a:pPr>
              <a:buNone/>
            </a:pPr>
            <a:r>
              <a:rPr lang="en-US" sz="1200" b="1" dirty="0"/>
              <a:t>3. Control Bar (Bottom)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More Options (···):</a:t>
            </a:r>
            <a:r>
              <a:rPr lang="en-US" sz="1200" dirty="0"/>
              <a:t> Opens additional features or call settings (e.g., switch camera, record).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Camera Toggle:</a:t>
            </a:r>
            <a:r>
              <a:rPr lang="en-US" sz="1200" dirty="0"/>
              <a:t> Enables/disables user’s camera.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Speaker Output:</a:t>
            </a:r>
            <a:r>
              <a:rPr lang="en-US" sz="1200" dirty="0"/>
              <a:t> Switches between loudspeaker and earpiece mode.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Mute Microphone:</a:t>
            </a:r>
            <a:r>
              <a:rPr lang="en-US" sz="1200" dirty="0"/>
              <a:t> Mutes/unmutes user’s microphone.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End Call (Red Button):</a:t>
            </a:r>
            <a:r>
              <a:rPr lang="en-US" sz="1200" dirty="0"/>
              <a:t> Ends the session for the user.</a:t>
            </a:r>
          </a:p>
          <a:p>
            <a:pPr>
              <a:buNone/>
            </a:pPr>
            <a:r>
              <a:rPr lang="en-US" sz="1200" b="1" dirty="0"/>
              <a:t>Visual Highlights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3-participant grid layout</a:t>
            </a:r>
            <a:r>
              <a:rPr lang="en-US" sz="1200" dirty="0"/>
              <a:t> with the main speaker highlighted at the top.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Clear active-speaker indicators</a:t>
            </a:r>
            <a:r>
              <a:rPr lang="en-US" sz="1200" dirty="0"/>
              <a:t> (animated soundwave icons).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Consistent icon colors:</a:t>
            </a:r>
            <a:endParaRPr lang="en-US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Blue = active voice.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Grey = muted.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Red = call termination.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Minimal white background</a:t>
            </a:r>
            <a:r>
              <a:rPr lang="en-US" sz="1200" dirty="0"/>
              <a:t> keeps focus on video content.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Soft shadows and rounded corners</a:t>
            </a:r>
            <a:r>
              <a:rPr lang="en-US" sz="1200" dirty="0"/>
              <a:t> on each tile for visual hierarchy.</a:t>
            </a:r>
          </a:p>
          <a:p>
            <a:pPr>
              <a:buNone/>
            </a:pPr>
            <a:r>
              <a:rPr lang="en-US" sz="1200" b="1" dirty="0"/>
              <a:t>User Flow Note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From:</a:t>
            </a:r>
            <a:r>
              <a:rPr lang="en-US" sz="1200" dirty="0"/>
              <a:t> Triggered when the user joins an ongoing group video call or initiates 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User Actions:</a:t>
            </a:r>
            <a:endParaRPr lang="en-US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View all participants’ live feeds.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Toggle camera, mic, or speaker.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View participant list or end the call.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To:</a:t>
            </a:r>
            <a:endParaRPr lang="en-US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Participant list screen</a:t>
            </a:r>
            <a:r>
              <a:rPr lang="en-US" sz="1200" dirty="0"/>
              <a:t> when user taps the participant icon.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Returns to chat screen</a:t>
            </a:r>
            <a:r>
              <a:rPr lang="en-US" sz="1200" dirty="0"/>
              <a:t> when call ends.</a:t>
            </a:r>
          </a:p>
        </p:txBody>
      </p:sp>
    </p:spTree>
    <p:extLst>
      <p:ext uri="{BB962C8B-B14F-4D97-AF65-F5344CB8AC3E}">
        <p14:creationId xmlns:p14="http://schemas.microsoft.com/office/powerpoint/2010/main" val="300337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7074</Words>
  <Application>Microsoft Office PowerPoint</Application>
  <PresentationFormat>Widescreen</PresentationFormat>
  <Paragraphs>704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EVZONE GROUP</dc:creator>
  <cp:lastModifiedBy>EVZONE GROUP</cp:lastModifiedBy>
  <cp:revision>12</cp:revision>
  <dcterms:created xsi:type="dcterms:W3CDTF">2025-11-10T06:28:33Z</dcterms:created>
  <dcterms:modified xsi:type="dcterms:W3CDTF">2025-11-10T07:51:10Z</dcterms:modified>
</cp:coreProperties>
</file>